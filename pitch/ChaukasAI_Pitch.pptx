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AI score</c:v>
                </c:pt>
              </c:strCache>
            </c:strRef>
          </c:tx>
          <c:spPr>
            <a:solidFill>
              <a:srgbClr val="153E7C"/>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CS-1047</c:v>
                  </c:pt>
                  <c:pt idx="1">
                    <c:v>CS-1048</c:v>
                  </c:pt>
                  <c:pt idx="2">
                    <c:v>CS-1049</c:v>
                  </c:pt>
                  <c:pt idx="3">
                    <c:v>CS-1050</c:v>
                  </c:pt>
                </c:lvl>
              </c:multiLvlStrCache>
            </c:multiLvlStrRef>
          </c:cat>
          <c:val>
            <c:numRef>
              <c:f>Sheet1!$B$2:$B$5</c:f>
              <c:numCache>
                <c:formatCode>General</c:formatCode>
                <c:ptCount val="4"/>
                <c:pt idx="0">
                  <c:v>8</c:v>
                </c:pt>
                <c:pt idx="1">
                  <c:v>7</c:v>
                </c:pt>
                <c:pt idx="2">
                  <c:v>6</c:v>
                </c:pt>
                <c:pt idx="3">
                  <c:v>5</c:v>
                </c:pt>
              </c:numCache>
            </c:numRef>
          </c:val>
        </c:ser>
        <c:ser>
          <c:idx val="1"/>
          <c:order val="1"/>
          <c:tx>
            <c:strRef>
              <c:f>Sheet1!$C$1</c:f>
              <c:strCache>
                <c:ptCount val="1"/>
                <c:pt idx="0">
                  <c:v>Final score</c:v>
                </c:pt>
              </c:strCache>
            </c:strRef>
          </c:tx>
          <c:spPr>
            <a:solidFill>
              <a:srgbClr val="E07010"/>
            </a:solidFill>
            <a:effectLst/>
          </c:spPr>
          <c:invertIfNegative val="0"/>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Sheet1!$A$2:$A$5</c:f>
              <c:multiLvlStrCache>
                <c:ptCount val="4"/>
                <c:lvl>
                  <c:pt idx="0">
                    <c:v>CS-1047</c:v>
                  </c:pt>
                  <c:pt idx="1">
                    <c:v>CS-1048</c:v>
                  </c:pt>
                  <c:pt idx="2">
                    <c:v>CS-1049</c:v>
                  </c:pt>
                  <c:pt idx="3">
                    <c:v>CS-1050</c:v>
                  </c:pt>
                </c:lvl>
              </c:multiLvlStrCache>
            </c:multiLvlStrRef>
          </c:cat>
          <c:val>
            <c:numRef>
              <c:f>Sheet1!$C$2:$C$5</c:f>
              <c:numCache>
                <c:formatCode>General</c:formatCode>
                <c:ptCount val="4"/>
                <c:pt idx="0">
                  <c:v>10</c:v>
                </c:pt>
                <c:pt idx="1">
                  <c:v>8</c:v>
                </c:pt>
                <c:pt idx="2">
                  <c:v>7</c:v>
                </c:pt>
                <c:pt idx="3">
                  <c:v>6</c:v>
                </c:pt>
              </c:numCache>
            </c:numRef>
          </c:val>
        </c:ser>
        <c:dLbls>
          <c:numFmt formatCode="#,##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0"/>
          <c:min val="0"/>
        </c:scaling>
        <c:delete val="0"/>
        <c:axPos val="l"/>
        <c:majorGridlines>
          <c:spPr>
            <a:ln w="6350" cap="flat">
              <a:solidFill>
                <a:srgbClr val="D9DE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r"/>
      <c:overlay val="0"/>
      <c:txPr>
        <a:bodyPr/>
        <a:lstStyle/>
        <a:p>
          <a:pPr>
            <a:defRPr sz="900">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Nikhil (opening, 20 sec).
Hello judges, we are Team Shivay from SD College of Engineering and Technology, Muzaffarnagar. Our product is Chaukas AI. Today we will show you how a citizen photo becomes a prioritised, routed and verified case for the department that must fix it. Everything you will see is running software, and the AI results are real runs recorded on our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Nikhil (40 sec).
Most pitches in round one talked about the government in general. Our target is narrower: the department officer who receives the complaints. PWD, Jal Sansthan, Nagar Nigam and the electricity department each have repair crews. What they lack is a clean, prioritised queue with proof. These four problems are what we remove.
If asked for statistics: we do not quote a national number we cannot source. Our claim is about workflow, which you can see in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Nikhil (40 sec).
This is the key change from round one. We are not asking the government to adopt a big platform. We offer each department a tool that makes its own work easier and its results provable. Routing in the prototype is configured for Roorkee and Muzaffarnagar, because that is where we know the department structure. Adding a city means adding one row of department names, not new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Nikhil (45 sec), then hand over to Madhav for the live product.
One sentence per step. Stress step five: most civic apps stop at submission. We close the loop, and the department cannot close a case with a fake photo. Timings are from our own recorded runs, not marketing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Madhav (45 sec). Madhav drives the live demo or the video here.
Show the three steps. Mention the Guided Tutor: it speaks Hindi or English, which matters for citizens who are not comfortable with apps.
If the live AI is slow or the laptop hangs, play the recorded video (chaukas_demo.mp4); do not wait. It is the same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Madhav (50 sec).
This is a real run of Gemini through our backend, recorded earlier because running a heavy model live on a laptop is risky. The evidence lines are the model's own words, so an officer can see why. The letter is ready to forward.
If asked "is the score hard-coded?": no. Three different photos in the next slides give different scores, from Medium to Critical.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Abhishek (50 sec).
The model gives a base score from the image, using a rubric: how big is the damage and how dangerous is it. Our code then adds context the photo cannot show, such as a school nearby. All rules are plain code, so a department can change them.
If asked about OpenStreetMap failing: we time out in 3.5 seconds and fall back to words in the citizen note, so the demo never hangs.
If asked "why not train your own model": for a prototype a vision-language model with a clear rubric is faster, and the rules layer is where local knowledge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Madhav (40 sec).
This is the screen that makes the department a customer. Note the Overdue chip: it gives the supervisor a simple accountability signal.
Honest limit: the panel currently lets you pick the department from a list. In a pilot each department gets its own login; the admin login already exists and uses a server-verified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Abhishek (50 sec).
This is our strongest differentiator. In our recorded run we first uploaded an unrelated garbage photo as the "after" image. The AI said: unrelated garbage issue at a different location, not resolved, and the case stayed open. Then the right photo was accepted with 98 percent confidence.
Be honest if asked: a determined person could stage a photo of a different repaired road at the same GPS point; the GPS check and the model reduce this but do not make it impossible. A second layer (citizen confirmation) is on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Avni (40 sec).
Show the map and the filters. Mention that older history in the demo is sample data that we seeded to make the dashboard readable; new complaints you saw are live. We label this in the product footer so we do not mislead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Abhishek (40 sec).
These four rows are exactly what our backend returned in the recorded session. The difference between the AI score and the final score is the context rules. We are not claiming an accuracy percentage; four photos cannot support one. For a pilot we would measure agreement between officers and the AI on a few hundred real complaints.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Smriti (40 sec).
Smriti explains the database: MongoDB stores complaints, audit entries and the photos. If the database cannot be reached the system falls back to a local file, so nothing crashes during a demo.
For judges: AI runs in the cloud through an API, the laptop does not need a GPU. Our backend is stateless apart from the database, so it can be deployed on a small server. Admin passwords and the JWT secret are environment variables and must be changed before any real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Nikhil (50 sec).
Be direct: no department has signed. We would approach through the municipal commissioner, PWD executive engineer and Jal Sansthan office with a free pilot. The business model is a department licence because the department gets the benefit. Cost side is small: hosting plus AI calls per complaint. Do not quote revenue numbers you cannot defend.
Likely judge question: "why will a department use this?" Answer: it reduces duplicate tickets and field visits, and the closure proof protects them from repeat complaints.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Member 6 (30 sec).
Saying our limits openly builds trust with judges. Read the left side quickly, spend more time on the right side, then hand back to Nikhil for the team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Nikhil (20 sec). Each member stands or raises a hand when named. EDIT THIS SLIDE: replace "[Member 6 name]" and the role before the final 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Nikhil closes (20 sec), then Madhav leads Q&amp;A.
Close with the ask. Do not add new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3E7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E07010"/>
          </a:solidFill>
          <a:ln w="12700">
            <a:solidFill>
              <a:srgbClr val="E07010"/>
            </a:solidFill>
            <a:prstDash val="solid"/>
          </a:ln>
        </p:spPr>
      </p:sp>
      <p:sp>
        <p:nvSpPr>
          <p:cNvPr id="3" name="Shape 1"/>
          <p:cNvSpPr/>
          <p:nvPr/>
        </p:nvSpPr>
        <p:spPr>
          <a:xfrm>
            <a:off x="0" y="109728"/>
            <a:ext cx="9144000" cy="45720"/>
          </a:xfrm>
          <a:prstGeom prst="rect">
            <a:avLst/>
          </a:prstGeom>
          <a:solidFill>
            <a:srgbClr val="FFFFFF"/>
          </a:solidFill>
          <a:ln w="12700">
            <a:solidFill>
              <a:srgbClr val="FFFFFF"/>
            </a:solidFill>
            <a:prstDash val="solid"/>
          </a:ln>
        </p:spPr>
      </p:sp>
      <p:sp>
        <p:nvSpPr>
          <p:cNvPr id="4" name="Shape 2"/>
          <p:cNvSpPr/>
          <p:nvPr/>
        </p:nvSpPr>
        <p:spPr>
          <a:xfrm>
            <a:off x="0" y="155448"/>
            <a:ext cx="9144000" cy="45720"/>
          </a:xfrm>
          <a:prstGeom prst="rect">
            <a:avLst/>
          </a:prstGeom>
          <a:solidFill>
            <a:srgbClr val="138808"/>
          </a:solidFill>
          <a:ln w="12700">
            <a:solidFill>
              <a:srgbClr val="138808"/>
            </a:solidFill>
            <a:prstDash val="solid"/>
          </a:ln>
        </p:spPr>
      </p:sp>
      <p:pic>
        <p:nvPicPr>
          <p:cNvPr id="5" name="Image 0" descr="/tmp/claude-0/work/frontend/public/brand/logo-mark-xl.png">    </p:cNvPr>
          <p:cNvPicPr>
            <a:picLocks noChangeAspect="1"/>
          </p:cNvPicPr>
          <p:nvPr/>
        </p:nvPicPr>
        <p:blipFill>
          <a:blip r:embed="rId1"/>
          <a:stretch>
            <a:fillRect/>
          </a:stretch>
        </p:blipFill>
        <p:spPr>
          <a:xfrm>
            <a:off x="548640" y="777240"/>
            <a:ext cx="914400" cy="914400"/>
          </a:xfrm>
          <a:prstGeom prst="rect">
            <a:avLst/>
          </a:prstGeom>
        </p:spPr>
      </p:pic>
      <p:sp>
        <p:nvSpPr>
          <p:cNvPr id="6" name="Text 3"/>
          <p:cNvSpPr txBox="1"/>
          <p:nvPr/>
        </p:nvSpPr>
        <p:spPr>
          <a:xfrm>
            <a:off x="548640" y="1828800"/>
            <a:ext cx="7772400" cy="822960"/>
          </a:xfrm>
          <a:prstGeom prst="rect">
            <a:avLst/>
          </a:prstGeom>
          <a:noFill/>
          <a:ln/>
        </p:spPr>
        <p:txBody>
          <a:bodyPr wrap="square" lIns="0" tIns="0" rIns="0" bIns="0" rtlCol="0" anchor="ctr"/>
          <a:lstStyle/>
          <a:p>
            <a:pPr indent="0" marL="0">
              <a:buNone/>
            </a:pPr>
            <a:r>
              <a:rPr lang="en-US" sz="4800" b="1" dirty="0">
                <a:solidFill>
                  <a:srgbClr val="FFFFFF"/>
                </a:solidFill>
                <a:latin typeface="Calibri" pitchFamily="34" charset="0"/>
                <a:ea typeface="Calibri" pitchFamily="34" charset="-122"/>
                <a:cs typeface="Calibri" pitchFamily="34" charset="-120"/>
              </a:rPr>
              <a:t>Chaukas AI</a:t>
            </a:r>
            <a:endParaRPr lang="en-US" sz="4800" dirty="0"/>
          </a:p>
        </p:txBody>
      </p:sp>
      <p:sp>
        <p:nvSpPr>
          <p:cNvPr id="7" name="Text 4"/>
          <p:cNvSpPr txBox="1"/>
          <p:nvPr/>
        </p:nvSpPr>
        <p:spPr>
          <a:xfrm>
            <a:off x="548640" y="2606040"/>
            <a:ext cx="7772400" cy="457200"/>
          </a:xfrm>
          <a:prstGeom prst="rect">
            <a:avLst/>
          </a:prstGeom>
          <a:noFill/>
          <a:ln/>
        </p:spPr>
        <p:txBody>
          <a:bodyPr wrap="square" lIns="0" tIns="0" rIns="0" bIns="0" rtlCol="0" anchor="ctr"/>
          <a:lstStyle/>
          <a:p>
            <a:pPr indent="0" marL="0">
              <a:buNone/>
            </a:pPr>
            <a:r>
              <a:rPr lang="en-US" sz="2400" dirty="0">
                <a:solidFill>
                  <a:srgbClr val="F5B27A"/>
                </a:solidFill>
                <a:latin typeface="Calibri" pitchFamily="34" charset="0"/>
                <a:ea typeface="Calibri" pitchFamily="34" charset="-122"/>
                <a:cs typeface="Calibri" pitchFamily="34" charset="-120"/>
              </a:rPr>
              <a:t>Shikayat se Samaadhan tak</a:t>
            </a:r>
            <a:endParaRPr lang="en-US" sz="2400" dirty="0"/>
          </a:p>
        </p:txBody>
      </p:sp>
      <p:sp>
        <p:nvSpPr>
          <p:cNvPr id="8" name="Text 5"/>
          <p:cNvSpPr txBox="1"/>
          <p:nvPr/>
        </p:nvSpPr>
        <p:spPr>
          <a:xfrm>
            <a:off x="548640" y="3200400"/>
            <a:ext cx="7132320" cy="640080"/>
          </a:xfrm>
          <a:prstGeom prst="rect">
            <a:avLst/>
          </a:prstGeom>
          <a:noFill/>
          <a:ln/>
        </p:spPr>
        <p:txBody>
          <a:bodyPr wrap="square" lIns="0" tIns="0" rIns="0" bIns="0" rtlCol="0" anchor="ctr"/>
          <a:lstStyle/>
          <a:p>
            <a:pPr indent="0" marL="0">
              <a:buNone/>
            </a:pPr>
            <a:r>
              <a:rPr lang="en-US" sz="1600" dirty="0">
                <a:solidFill>
                  <a:srgbClr val="DCE6F5"/>
                </a:solidFill>
                <a:latin typeface="Calibri" pitchFamily="34" charset="0"/>
                <a:ea typeface="Calibri" pitchFamily="34" charset="-122"/>
                <a:cs typeface="Calibri" pitchFamily="34" charset="-120"/>
              </a:rPr>
              <a:t>A complaint-handling tool for city departments: verify, prioritise, route, and prove the fix.</a:t>
            </a:r>
            <a:endParaRPr lang="en-US" sz="1600" dirty="0"/>
          </a:p>
        </p:txBody>
      </p:sp>
      <p:sp>
        <p:nvSpPr>
          <p:cNvPr id="9" name="Text 6"/>
          <p:cNvSpPr txBox="1"/>
          <p:nvPr/>
        </p:nvSpPr>
        <p:spPr>
          <a:xfrm>
            <a:off x="548640" y="4434840"/>
            <a:ext cx="8229600" cy="274320"/>
          </a:xfrm>
          <a:prstGeom prst="rect">
            <a:avLst/>
          </a:prstGeom>
          <a:noFill/>
          <a:ln/>
        </p:spPr>
        <p:txBody>
          <a:bodyPr wrap="square" lIns="0" tIns="0" rIns="0" bIns="0" rtlCol="0" anchor="ctr"/>
          <a:lstStyle/>
          <a:p>
            <a:pPr indent="0" marL="0">
              <a:buNone/>
            </a:pPr>
            <a:r>
              <a:rPr lang="en-US" sz="1100" dirty="0">
                <a:solidFill>
                  <a:srgbClr val="B9C8E2"/>
                </a:solidFill>
                <a:latin typeface="Calibri" pitchFamily="34" charset="0"/>
                <a:ea typeface="Calibri" pitchFamily="34" charset="-122"/>
                <a:cs typeface="Calibri" pitchFamily="34" charset="-120"/>
              </a:rPr>
              <a:t>Team Shivay  |  National Hackathon 6.0  |  COER University, Roorkee  |  AI &amp; Intelligent Systems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07010"/>
          </a:solidFill>
          <a:ln w="12700">
            <a:solidFill>
              <a:srgbClr val="E07010"/>
            </a:solidFill>
            <a:prstDash val="solid"/>
          </a:ln>
        </p:spPr>
      </p:sp>
      <p:sp>
        <p:nvSpPr>
          <p:cNvPr id="3" name="Text 1"/>
          <p:cNvSpPr txBox="1"/>
          <p:nvPr/>
        </p:nvSpPr>
        <p:spPr>
          <a:xfrm>
            <a:off x="457200" y="201168"/>
            <a:ext cx="6400800" cy="228600"/>
          </a:xfrm>
          <a:prstGeom prst="rect">
            <a:avLst/>
          </a:prstGeom>
          <a:noFill/>
          <a:ln/>
        </p:spPr>
        <p:txBody>
          <a:bodyPr wrap="square" lIns="0" tIns="0" rIns="0" bIns="0" rtlCol="0" anchor="ctr"/>
          <a:lstStyle/>
          <a:p>
            <a:pPr indent="0" marL="0">
              <a:buNone/>
            </a:pPr>
            <a:r>
              <a:rPr lang="en-US" sz="1050" b="1" spc="200" kern="0" dirty="0">
                <a:solidFill>
                  <a:srgbClr val="E07010"/>
                </a:solidFill>
                <a:latin typeface="Calibri" pitchFamily="34" charset="0"/>
                <a:ea typeface="Calibri" pitchFamily="34" charset="-122"/>
                <a:cs typeface="Calibri" pitchFamily="34" charset="-120"/>
              </a:rPr>
              <a:t>THE PROBLEM, FROM THE DEPARTMENT SIDE</a:t>
            </a:r>
            <a:endParaRPr lang="en-US" sz="1050" dirty="0"/>
          </a:p>
        </p:txBody>
      </p:sp>
      <p:sp>
        <p:nvSpPr>
          <p:cNvPr id="4" name="Text 2"/>
          <p:cNvSpPr txBox="1"/>
          <p:nvPr/>
        </p:nvSpPr>
        <p:spPr>
          <a:xfrm>
            <a:off x="457200" y="429768"/>
            <a:ext cx="8229600" cy="685800"/>
          </a:xfrm>
          <a:prstGeom prst="rect">
            <a:avLst/>
          </a:prstGeom>
          <a:noFill/>
          <a:ln/>
        </p:spPr>
        <p:txBody>
          <a:bodyPr wrap="square" lIns="0" tIns="0" rIns="0" bIns="0" rtlCol="0" anchor="t"/>
          <a:lstStyle/>
          <a:p>
            <a:pPr indent="0" marL="0">
              <a:buNone/>
            </a:pPr>
            <a:r>
              <a:rPr lang="en-US" sz="2300" b="1" dirty="0">
                <a:solidFill>
                  <a:srgbClr val="153E7C"/>
                </a:solidFill>
                <a:latin typeface="Calibri" pitchFamily="34" charset="0"/>
                <a:ea typeface="Calibri" pitchFamily="34" charset="-122"/>
                <a:cs typeface="Calibri" pitchFamily="34" charset="-120"/>
              </a:rPr>
              <a:t>The department inbox is the bottleneck, not the repair crew</a:t>
            </a:r>
            <a:endParaRPr lang="en-US" sz="2300" dirty="0"/>
          </a:p>
        </p:txBody>
      </p:sp>
      <p:sp>
        <p:nvSpPr>
          <p:cNvPr id="5" name="Text 3"/>
          <p:cNvSpPr txBox="1"/>
          <p:nvPr/>
        </p:nvSpPr>
        <p:spPr>
          <a:xfrm>
            <a:off x="457200" y="4828032"/>
            <a:ext cx="4572000" cy="201168"/>
          </a:xfrm>
          <a:prstGeom prst="rect">
            <a:avLst/>
          </a:prstGeom>
          <a:noFill/>
          <a:ln/>
        </p:spPr>
        <p:txBody>
          <a:bodyPr wrap="square" lIns="0" tIns="0" rIns="0" bIns="0" rtlCol="0" anchor="ctr"/>
          <a:lstStyle/>
          <a:p>
            <a:pPr indent="0" marL="0">
              <a:buNone/>
            </a:pPr>
            <a:r>
              <a:rPr lang="en-US" sz="900" dirty="0">
                <a:solidFill>
                  <a:srgbClr val="56627A"/>
                </a:solidFill>
                <a:latin typeface="Calibri" pitchFamily="34" charset="0"/>
                <a:ea typeface="Calibri" pitchFamily="34" charset="-122"/>
                <a:cs typeface="Calibri" pitchFamily="34" charset="-120"/>
              </a:rPr>
              <a:t>Chaukas AI  |  Team Shivay</a:t>
            </a:r>
            <a:endParaRPr lang="en-US" sz="900" dirty="0"/>
          </a:p>
        </p:txBody>
      </p:sp>
      <p:sp>
        <p:nvSpPr>
          <p:cNvPr id="6" name="Text 4"/>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56627A"/>
                </a:solidFill>
                <a:latin typeface="Calibri" pitchFamily="34" charset="0"/>
                <a:ea typeface="Calibri" pitchFamily="34" charset="-122"/>
                <a:cs typeface="Calibri" pitchFamily="34" charset="-120"/>
              </a:rPr>
              <a:t>2</a:t>
            </a:r>
            <a:endParaRPr lang="en-US" sz="900" dirty="0"/>
          </a:p>
        </p:txBody>
      </p:sp>
      <p:sp>
        <p:nvSpPr>
          <p:cNvPr id="7" name="Text 5"/>
          <p:cNvSpPr txBox="1"/>
          <p:nvPr/>
        </p:nvSpPr>
        <p:spPr>
          <a:xfrm>
            <a:off x="5669280" y="201168"/>
            <a:ext cx="3017520" cy="228600"/>
          </a:xfrm>
          <a:prstGeom prst="rect">
            <a:avLst/>
          </a:prstGeom>
          <a:noFill/>
          <a:ln/>
        </p:spPr>
        <p:txBody>
          <a:bodyPr wrap="square" lIns="0" tIns="0" rIns="0" bIns="0" rtlCol="0" anchor="ctr"/>
          <a:lstStyle/>
          <a:p>
            <a:pPr algn="r" indent="0" marL="0">
              <a:buNone/>
            </a:pPr>
            <a:r>
              <a:rPr lang="en-US" sz="950" dirty="0">
                <a:solidFill>
                  <a:srgbClr val="56627A"/>
                </a:solidFill>
                <a:latin typeface="Calibri" pitchFamily="34" charset="0"/>
                <a:ea typeface="Calibri" pitchFamily="34" charset="-122"/>
                <a:cs typeface="Calibri" pitchFamily="34" charset="-120"/>
              </a:rPr>
              <a:t>Presents: Nikhil</a:t>
            </a:r>
            <a:endParaRPr lang="en-US" sz="950" dirty="0"/>
          </a:p>
        </p:txBody>
      </p:sp>
      <p:sp>
        <p:nvSpPr>
          <p:cNvPr id="8" name="Shape 6"/>
          <p:cNvSpPr/>
          <p:nvPr/>
        </p:nvSpPr>
        <p:spPr>
          <a:xfrm>
            <a:off x="457200" y="1371600"/>
            <a:ext cx="4023360" cy="1463040"/>
          </a:xfrm>
          <a:prstGeom prst="rect">
            <a:avLst/>
          </a:prstGeom>
          <a:solidFill>
            <a:srgbClr val="FFFFFF"/>
          </a:solidFill>
          <a:ln w="9525">
            <a:solidFill>
              <a:srgbClr val="D9DEE7"/>
            </a:solidFill>
            <a:prstDash val="solid"/>
          </a:ln>
        </p:spPr>
      </p:sp>
      <p:sp>
        <p:nvSpPr>
          <p:cNvPr id="9" name="Shape 7"/>
          <p:cNvSpPr/>
          <p:nvPr/>
        </p:nvSpPr>
        <p:spPr>
          <a:xfrm>
            <a:off x="457200" y="1371600"/>
            <a:ext cx="64008" cy="1463040"/>
          </a:xfrm>
          <a:prstGeom prst="rect">
            <a:avLst/>
          </a:prstGeom>
          <a:solidFill>
            <a:srgbClr val="E07010"/>
          </a:solidFill>
          <a:ln w="12700">
            <a:solidFill>
              <a:srgbClr val="E07010"/>
            </a:solidFill>
            <a:prstDash val="solid"/>
          </a:ln>
        </p:spPr>
      </p:sp>
      <p:sp>
        <p:nvSpPr>
          <p:cNvPr id="10" name="Text 8"/>
          <p:cNvSpPr txBox="1"/>
          <p:nvPr/>
        </p:nvSpPr>
        <p:spPr>
          <a:xfrm>
            <a:off x="685800" y="1508760"/>
            <a:ext cx="3611880" cy="365760"/>
          </a:xfrm>
          <a:prstGeom prst="rect">
            <a:avLst/>
          </a:prstGeom>
          <a:noFill/>
          <a:ln/>
        </p:spPr>
        <p:txBody>
          <a:bodyPr wrap="square" lIns="0" tIns="0" rIns="0" bIns="0" rtlCol="0" anchor="ctr"/>
          <a:lstStyle/>
          <a:p>
            <a:pPr indent="0" marL="0">
              <a:buNone/>
            </a:pPr>
            <a:r>
              <a:rPr lang="en-US" sz="1500" b="1" dirty="0">
                <a:solidFill>
                  <a:srgbClr val="153E7C"/>
                </a:solidFill>
                <a:latin typeface="Calibri" pitchFamily="34" charset="0"/>
                <a:ea typeface="Calibri" pitchFamily="34" charset="-122"/>
                <a:cs typeface="Calibri" pitchFamily="34" charset="-120"/>
              </a:rPr>
              <a:t>Many channels, no single queue</a:t>
            </a:r>
            <a:endParaRPr lang="en-US" sz="1500" dirty="0"/>
          </a:p>
        </p:txBody>
      </p:sp>
      <p:sp>
        <p:nvSpPr>
          <p:cNvPr id="11" name="Text 9"/>
          <p:cNvSpPr txBox="1"/>
          <p:nvPr/>
        </p:nvSpPr>
        <p:spPr>
          <a:xfrm>
            <a:off x="685800" y="1920240"/>
            <a:ext cx="3611880" cy="822960"/>
          </a:xfrm>
          <a:prstGeom prst="rect">
            <a:avLst/>
          </a:prstGeom>
          <a:noFill/>
          <a:ln/>
        </p:spPr>
        <p:txBody>
          <a:bodyPr wrap="square" lIns="0" tIns="0" rIns="0" bIns="0" rtlCol="0" anchor="t"/>
          <a:lstStyle/>
          <a:p>
            <a:pPr indent="0" marL="0">
              <a:buNone/>
            </a:pPr>
            <a:r>
              <a:rPr lang="en-US" sz="1250" dirty="0">
                <a:solidFill>
                  <a:srgbClr val="172033"/>
                </a:solidFill>
                <a:latin typeface="Calibri" pitchFamily="34" charset="0"/>
                <a:ea typeface="Calibri" pitchFamily="34" charset="-122"/>
                <a:cs typeface="Calibri" pitchFamily="34" charset="-120"/>
              </a:rPr>
              <a:t>Phone calls, WhatsApp, written applications and helpline tickets all land in different places.</a:t>
            </a:r>
            <a:endParaRPr lang="en-US" sz="1250" dirty="0"/>
          </a:p>
        </p:txBody>
      </p:sp>
      <p:sp>
        <p:nvSpPr>
          <p:cNvPr id="12" name="Shape 10"/>
          <p:cNvSpPr/>
          <p:nvPr/>
        </p:nvSpPr>
        <p:spPr>
          <a:xfrm>
            <a:off x="4663440" y="1371600"/>
            <a:ext cx="4023360" cy="1463040"/>
          </a:xfrm>
          <a:prstGeom prst="rect">
            <a:avLst/>
          </a:prstGeom>
          <a:solidFill>
            <a:srgbClr val="FFFFFF"/>
          </a:solidFill>
          <a:ln w="9525">
            <a:solidFill>
              <a:srgbClr val="D9DEE7"/>
            </a:solidFill>
            <a:prstDash val="solid"/>
          </a:ln>
        </p:spPr>
      </p:sp>
      <p:sp>
        <p:nvSpPr>
          <p:cNvPr id="13" name="Shape 11"/>
          <p:cNvSpPr/>
          <p:nvPr/>
        </p:nvSpPr>
        <p:spPr>
          <a:xfrm>
            <a:off x="4663440" y="1371600"/>
            <a:ext cx="64008" cy="1463040"/>
          </a:xfrm>
          <a:prstGeom prst="rect">
            <a:avLst/>
          </a:prstGeom>
          <a:solidFill>
            <a:srgbClr val="E07010"/>
          </a:solidFill>
          <a:ln w="12700">
            <a:solidFill>
              <a:srgbClr val="E07010"/>
            </a:solidFill>
            <a:prstDash val="solid"/>
          </a:ln>
        </p:spPr>
      </p:sp>
      <p:sp>
        <p:nvSpPr>
          <p:cNvPr id="14" name="Text 12"/>
          <p:cNvSpPr txBox="1"/>
          <p:nvPr/>
        </p:nvSpPr>
        <p:spPr>
          <a:xfrm>
            <a:off x="4892040" y="1508760"/>
            <a:ext cx="3611880" cy="365760"/>
          </a:xfrm>
          <a:prstGeom prst="rect">
            <a:avLst/>
          </a:prstGeom>
          <a:noFill/>
          <a:ln/>
        </p:spPr>
        <p:txBody>
          <a:bodyPr wrap="square" lIns="0" tIns="0" rIns="0" bIns="0" rtlCol="0" anchor="ctr"/>
          <a:lstStyle/>
          <a:p>
            <a:pPr indent="0" marL="0">
              <a:buNone/>
            </a:pPr>
            <a:r>
              <a:rPr lang="en-US" sz="1500" b="1" dirty="0">
                <a:solidFill>
                  <a:srgbClr val="153E7C"/>
                </a:solidFill>
                <a:latin typeface="Calibri" pitchFamily="34" charset="0"/>
                <a:ea typeface="Calibri" pitchFamily="34" charset="-122"/>
                <a:cs typeface="Calibri" pitchFamily="34" charset="-120"/>
              </a:rPr>
              <a:t>One problem, many tickets</a:t>
            </a:r>
            <a:endParaRPr lang="en-US" sz="1500" dirty="0"/>
          </a:p>
        </p:txBody>
      </p:sp>
      <p:sp>
        <p:nvSpPr>
          <p:cNvPr id="15" name="Text 13"/>
          <p:cNvSpPr txBox="1"/>
          <p:nvPr/>
        </p:nvSpPr>
        <p:spPr>
          <a:xfrm>
            <a:off x="4892040" y="1920240"/>
            <a:ext cx="3611880" cy="822960"/>
          </a:xfrm>
          <a:prstGeom prst="rect">
            <a:avLst/>
          </a:prstGeom>
          <a:noFill/>
          <a:ln/>
        </p:spPr>
        <p:txBody>
          <a:bodyPr wrap="square" lIns="0" tIns="0" rIns="0" bIns="0" rtlCol="0" anchor="t"/>
          <a:lstStyle/>
          <a:p>
            <a:pPr indent="0" marL="0">
              <a:buNone/>
            </a:pPr>
            <a:r>
              <a:rPr lang="en-US" sz="1250" dirty="0">
                <a:solidFill>
                  <a:srgbClr val="172033"/>
                </a:solidFill>
                <a:latin typeface="Calibri" pitchFamily="34" charset="0"/>
                <a:ea typeface="Calibri" pitchFamily="34" charset="-122"/>
                <a:cs typeface="Calibri" pitchFamily="34" charset="-120"/>
              </a:rPr>
              <a:t>The same pothole is reported by ten neighbours; staff cannot tell one big issue from ten small ones.</a:t>
            </a:r>
            <a:endParaRPr lang="en-US" sz="1250" dirty="0"/>
          </a:p>
        </p:txBody>
      </p:sp>
      <p:sp>
        <p:nvSpPr>
          <p:cNvPr id="16" name="Shape 14"/>
          <p:cNvSpPr/>
          <p:nvPr/>
        </p:nvSpPr>
        <p:spPr>
          <a:xfrm>
            <a:off x="457200" y="2971800"/>
            <a:ext cx="4023360" cy="1463040"/>
          </a:xfrm>
          <a:prstGeom prst="rect">
            <a:avLst/>
          </a:prstGeom>
          <a:solidFill>
            <a:srgbClr val="FFFFFF"/>
          </a:solidFill>
          <a:ln w="9525">
            <a:solidFill>
              <a:srgbClr val="D9DEE7"/>
            </a:solidFill>
            <a:prstDash val="solid"/>
          </a:ln>
        </p:spPr>
      </p:sp>
      <p:sp>
        <p:nvSpPr>
          <p:cNvPr id="17" name="Shape 15"/>
          <p:cNvSpPr/>
          <p:nvPr/>
        </p:nvSpPr>
        <p:spPr>
          <a:xfrm>
            <a:off x="457200" y="2971800"/>
            <a:ext cx="64008" cy="1463040"/>
          </a:xfrm>
          <a:prstGeom prst="rect">
            <a:avLst/>
          </a:prstGeom>
          <a:solidFill>
            <a:srgbClr val="E07010"/>
          </a:solidFill>
          <a:ln w="12700">
            <a:solidFill>
              <a:srgbClr val="E07010"/>
            </a:solidFill>
            <a:prstDash val="solid"/>
          </a:ln>
        </p:spPr>
      </p:sp>
      <p:sp>
        <p:nvSpPr>
          <p:cNvPr id="18" name="Text 16"/>
          <p:cNvSpPr txBox="1"/>
          <p:nvPr/>
        </p:nvSpPr>
        <p:spPr>
          <a:xfrm>
            <a:off x="685800" y="3108960"/>
            <a:ext cx="3611880" cy="365760"/>
          </a:xfrm>
          <a:prstGeom prst="rect">
            <a:avLst/>
          </a:prstGeom>
          <a:noFill/>
          <a:ln/>
        </p:spPr>
        <p:txBody>
          <a:bodyPr wrap="square" lIns="0" tIns="0" rIns="0" bIns="0" rtlCol="0" anchor="ctr"/>
          <a:lstStyle/>
          <a:p>
            <a:pPr indent="0" marL="0">
              <a:buNone/>
            </a:pPr>
            <a:r>
              <a:rPr lang="en-US" sz="1500" b="1" dirty="0">
                <a:solidFill>
                  <a:srgbClr val="153E7C"/>
                </a:solidFill>
                <a:latin typeface="Calibri" pitchFamily="34" charset="0"/>
                <a:ea typeface="Calibri" pitchFamily="34" charset="-122"/>
                <a:cs typeface="Calibri" pitchFamily="34" charset="-120"/>
              </a:rPr>
              <a:t>No exact spot, no photo</a:t>
            </a:r>
            <a:endParaRPr lang="en-US" sz="1500" dirty="0"/>
          </a:p>
        </p:txBody>
      </p:sp>
      <p:sp>
        <p:nvSpPr>
          <p:cNvPr id="19" name="Text 17"/>
          <p:cNvSpPr txBox="1"/>
          <p:nvPr/>
        </p:nvSpPr>
        <p:spPr>
          <a:xfrm>
            <a:off x="685800" y="3520440"/>
            <a:ext cx="3611880" cy="822960"/>
          </a:xfrm>
          <a:prstGeom prst="rect">
            <a:avLst/>
          </a:prstGeom>
          <a:noFill/>
          <a:ln/>
        </p:spPr>
        <p:txBody>
          <a:bodyPr wrap="square" lIns="0" tIns="0" rIns="0" bIns="0" rtlCol="0" anchor="t"/>
          <a:lstStyle/>
          <a:p>
            <a:pPr indent="0" marL="0">
              <a:buNone/>
            </a:pPr>
            <a:r>
              <a:rPr lang="en-US" sz="1250" dirty="0">
                <a:solidFill>
                  <a:srgbClr val="172033"/>
                </a:solidFill>
                <a:latin typeface="Calibri" pitchFamily="34" charset="0"/>
                <a:ea typeface="Calibri" pitchFamily="34" charset="-122"/>
                <a:cs typeface="Calibri" pitchFamily="34" charset="-120"/>
              </a:rPr>
              <a:t>"Near the chowk" means a field visit just to find the location.</a:t>
            </a:r>
            <a:endParaRPr lang="en-US" sz="1250" dirty="0"/>
          </a:p>
        </p:txBody>
      </p:sp>
      <p:sp>
        <p:nvSpPr>
          <p:cNvPr id="20" name="Shape 18"/>
          <p:cNvSpPr/>
          <p:nvPr/>
        </p:nvSpPr>
        <p:spPr>
          <a:xfrm>
            <a:off x="4663440" y="2971800"/>
            <a:ext cx="4023360" cy="1463040"/>
          </a:xfrm>
          <a:prstGeom prst="rect">
            <a:avLst/>
          </a:prstGeom>
          <a:solidFill>
            <a:srgbClr val="FFFFFF"/>
          </a:solidFill>
          <a:ln w="9525">
            <a:solidFill>
              <a:srgbClr val="D9DEE7"/>
            </a:solidFill>
            <a:prstDash val="solid"/>
          </a:ln>
        </p:spPr>
      </p:sp>
      <p:sp>
        <p:nvSpPr>
          <p:cNvPr id="21" name="Shape 19"/>
          <p:cNvSpPr/>
          <p:nvPr/>
        </p:nvSpPr>
        <p:spPr>
          <a:xfrm>
            <a:off x="4663440" y="2971800"/>
            <a:ext cx="64008" cy="1463040"/>
          </a:xfrm>
          <a:prstGeom prst="rect">
            <a:avLst/>
          </a:prstGeom>
          <a:solidFill>
            <a:srgbClr val="E07010"/>
          </a:solidFill>
          <a:ln w="12700">
            <a:solidFill>
              <a:srgbClr val="E07010"/>
            </a:solidFill>
            <a:prstDash val="solid"/>
          </a:ln>
        </p:spPr>
      </p:sp>
      <p:sp>
        <p:nvSpPr>
          <p:cNvPr id="22" name="Text 20"/>
          <p:cNvSpPr txBox="1"/>
          <p:nvPr/>
        </p:nvSpPr>
        <p:spPr>
          <a:xfrm>
            <a:off x="4892040" y="3108960"/>
            <a:ext cx="3611880" cy="365760"/>
          </a:xfrm>
          <a:prstGeom prst="rect">
            <a:avLst/>
          </a:prstGeom>
          <a:noFill/>
          <a:ln/>
        </p:spPr>
        <p:txBody>
          <a:bodyPr wrap="square" lIns="0" tIns="0" rIns="0" bIns="0" rtlCol="0" anchor="ctr"/>
          <a:lstStyle/>
          <a:p>
            <a:pPr indent="0" marL="0">
              <a:buNone/>
            </a:pPr>
            <a:r>
              <a:rPr lang="en-US" sz="1500" b="1" dirty="0">
                <a:solidFill>
                  <a:srgbClr val="153E7C"/>
                </a:solidFill>
                <a:latin typeface="Calibri" pitchFamily="34" charset="0"/>
                <a:ea typeface="Calibri" pitchFamily="34" charset="-122"/>
                <a:cs typeface="Calibri" pitchFamily="34" charset="-120"/>
              </a:rPr>
              <a:t>Closed on paper, not on the road</a:t>
            </a:r>
            <a:endParaRPr lang="en-US" sz="1500" dirty="0"/>
          </a:p>
        </p:txBody>
      </p:sp>
      <p:sp>
        <p:nvSpPr>
          <p:cNvPr id="23" name="Text 21"/>
          <p:cNvSpPr txBox="1"/>
          <p:nvPr/>
        </p:nvSpPr>
        <p:spPr>
          <a:xfrm>
            <a:off x="4892040" y="3520440"/>
            <a:ext cx="3611880" cy="822960"/>
          </a:xfrm>
          <a:prstGeom prst="rect">
            <a:avLst/>
          </a:prstGeom>
          <a:noFill/>
          <a:ln/>
        </p:spPr>
        <p:txBody>
          <a:bodyPr wrap="square" lIns="0" tIns="0" rIns="0" bIns="0" rtlCol="0" anchor="t"/>
          <a:lstStyle/>
          <a:p>
            <a:pPr indent="0" marL="0">
              <a:buNone/>
            </a:pPr>
            <a:r>
              <a:rPr lang="en-US" sz="1250" dirty="0">
                <a:solidFill>
                  <a:srgbClr val="172033"/>
                </a:solidFill>
                <a:latin typeface="Calibri" pitchFamily="34" charset="0"/>
                <a:ea typeface="Calibri" pitchFamily="34" charset="-122"/>
                <a:cs typeface="Calibri" pitchFamily="34" charset="-120"/>
              </a:rPr>
              <a:t>Without proof of repair, citizens complain again and trust drops.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07010"/>
          </a:solidFill>
          <a:ln w="12700">
            <a:solidFill>
              <a:srgbClr val="E07010"/>
            </a:solidFill>
            <a:prstDash val="solid"/>
          </a:ln>
        </p:spPr>
      </p:sp>
      <p:sp>
        <p:nvSpPr>
          <p:cNvPr id="3" name="Text 1"/>
          <p:cNvSpPr txBox="1"/>
          <p:nvPr/>
        </p:nvSpPr>
        <p:spPr>
          <a:xfrm>
            <a:off x="457200" y="201168"/>
            <a:ext cx="6400800" cy="228600"/>
          </a:xfrm>
          <a:prstGeom prst="rect">
            <a:avLst/>
          </a:prstGeom>
          <a:noFill/>
          <a:ln/>
        </p:spPr>
        <p:txBody>
          <a:bodyPr wrap="square" lIns="0" tIns="0" rIns="0" bIns="0" rtlCol="0" anchor="ctr"/>
          <a:lstStyle/>
          <a:p>
            <a:pPr indent="0" marL="0">
              <a:buNone/>
            </a:pPr>
            <a:r>
              <a:rPr lang="en-US" sz="1050" b="1" spc="200" kern="0" dirty="0">
                <a:solidFill>
                  <a:srgbClr val="E07010"/>
                </a:solidFill>
                <a:latin typeface="Calibri" pitchFamily="34" charset="0"/>
                <a:ea typeface="Calibri" pitchFamily="34" charset="-122"/>
                <a:cs typeface="Calibri" pitchFamily="34" charset="-120"/>
              </a:rPr>
              <a:t>OUR CUSTOMER IS THE DEPARTMENT</a:t>
            </a:r>
            <a:endParaRPr lang="en-US" sz="1050" dirty="0"/>
          </a:p>
        </p:txBody>
      </p:sp>
      <p:sp>
        <p:nvSpPr>
          <p:cNvPr id="4" name="Text 2"/>
          <p:cNvSpPr txBox="1"/>
          <p:nvPr/>
        </p:nvSpPr>
        <p:spPr>
          <a:xfrm>
            <a:off x="457200" y="429768"/>
            <a:ext cx="8229600" cy="685800"/>
          </a:xfrm>
          <a:prstGeom prst="rect">
            <a:avLst/>
          </a:prstGeom>
          <a:noFill/>
          <a:ln/>
        </p:spPr>
        <p:txBody>
          <a:bodyPr wrap="square" lIns="0" tIns="0" rIns="0" bIns="0" rtlCol="0" anchor="t"/>
          <a:lstStyle/>
          <a:p>
            <a:pPr indent="0" marL="0">
              <a:buNone/>
            </a:pPr>
            <a:r>
              <a:rPr lang="en-US" sz="2300" b="1" dirty="0">
                <a:solidFill>
                  <a:srgbClr val="153E7C"/>
                </a:solidFill>
                <a:latin typeface="Calibri" pitchFamily="34" charset="0"/>
                <a:ea typeface="Calibri" pitchFamily="34" charset="-122"/>
                <a:cs typeface="Calibri" pitchFamily="34" charset="-120"/>
              </a:rPr>
              <a:t>Who we build for: the four departments that receive most street complaints</a:t>
            </a:r>
            <a:endParaRPr lang="en-US" sz="2300" dirty="0"/>
          </a:p>
        </p:txBody>
      </p:sp>
      <p:sp>
        <p:nvSpPr>
          <p:cNvPr id="5" name="Text 3"/>
          <p:cNvSpPr txBox="1"/>
          <p:nvPr/>
        </p:nvSpPr>
        <p:spPr>
          <a:xfrm>
            <a:off x="457200" y="4828032"/>
            <a:ext cx="4572000" cy="201168"/>
          </a:xfrm>
          <a:prstGeom prst="rect">
            <a:avLst/>
          </a:prstGeom>
          <a:noFill/>
          <a:ln/>
        </p:spPr>
        <p:txBody>
          <a:bodyPr wrap="square" lIns="0" tIns="0" rIns="0" bIns="0" rtlCol="0" anchor="ctr"/>
          <a:lstStyle/>
          <a:p>
            <a:pPr indent="0" marL="0">
              <a:buNone/>
            </a:pPr>
            <a:r>
              <a:rPr lang="en-US" sz="900" dirty="0">
                <a:solidFill>
                  <a:srgbClr val="56627A"/>
                </a:solidFill>
                <a:latin typeface="Calibri" pitchFamily="34" charset="0"/>
                <a:ea typeface="Calibri" pitchFamily="34" charset="-122"/>
                <a:cs typeface="Calibri" pitchFamily="34" charset="-120"/>
              </a:rPr>
              <a:t>Chaukas AI  |  Team Shivay</a:t>
            </a:r>
            <a:endParaRPr lang="en-US" sz="900" dirty="0"/>
          </a:p>
        </p:txBody>
      </p:sp>
      <p:sp>
        <p:nvSpPr>
          <p:cNvPr id="6" name="Text 4"/>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56627A"/>
                </a:solidFill>
                <a:latin typeface="Calibri" pitchFamily="34" charset="0"/>
                <a:ea typeface="Calibri" pitchFamily="34" charset="-122"/>
                <a:cs typeface="Calibri" pitchFamily="34" charset="-120"/>
              </a:rPr>
              <a:t>3</a:t>
            </a:r>
            <a:endParaRPr lang="en-US" sz="900" dirty="0"/>
          </a:p>
        </p:txBody>
      </p:sp>
      <p:sp>
        <p:nvSpPr>
          <p:cNvPr id="7" name="Text 5"/>
          <p:cNvSpPr txBox="1"/>
          <p:nvPr/>
        </p:nvSpPr>
        <p:spPr>
          <a:xfrm>
            <a:off x="5669280" y="201168"/>
            <a:ext cx="3017520" cy="228600"/>
          </a:xfrm>
          <a:prstGeom prst="rect">
            <a:avLst/>
          </a:prstGeom>
          <a:noFill/>
          <a:ln/>
        </p:spPr>
        <p:txBody>
          <a:bodyPr wrap="square" lIns="0" tIns="0" rIns="0" bIns="0" rtlCol="0" anchor="ctr"/>
          <a:lstStyle/>
          <a:p>
            <a:pPr algn="r" indent="0" marL="0">
              <a:buNone/>
            </a:pPr>
            <a:r>
              <a:rPr lang="en-US" sz="950" dirty="0">
                <a:solidFill>
                  <a:srgbClr val="56627A"/>
                </a:solidFill>
                <a:latin typeface="Calibri" pitchFamily="34" charset="0"/>
                <a:ea typeface="Calibri" pitchFamily="34" charset="-122"/>
                <a:cs typeface="Calibri" pitchFamily="34" charset="-120"/>
              </a:rPr>
              <a:t>Presents: Nikhil</a:t>
            </a:r>
            <a:endParaRPr lang="en-US" sz="9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2194560"/>
                <a:gridCol w="2286000"/>
                <a:gridCol w="3749040"/>
              </a:tblGrid>
              <a:tr h="502920">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Department</a:t>
                      </a:r>
                      <a:endParaRPr lang="en-US" sz="125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53E7C"/>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Complaint types</a:t>
                      </a:r>
                      <a:endParaRPr lang="en-US" sz="125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53E7C"/>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What the department gets from Chaukas AI</a:t>
                      </a:r>
                      <a:endParaRPr lang="en-US" sz="125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53E7C"/>
                    </a:solidFill>
                  </a:tcPr>
                </a:tc>
              </a:tr>
              <a:tr h="502920">
                <a:tc>
                  <a:txBody>
                    <a:bodyPr/>
                    <a:lstStyle/>
                    <a:p>
                      <a:pPr indent="0" marL="0">
                        <a:buNone/>
                      </a:pPr>
                      <a:r>
                        <a:rPr lang="en-US" sz="1250" b="1" dirty="0">
                          <a:solidFill>
                            <a:srgbClr val="153E7C"/>
                          </a:solidFill>
                          <a:latin typeface="Calibri" pitchFamily="34" charset="0"/>
                          <a:ea typeface="Calibri" pitchFamily="34" charset="-122"/>
                          <a:cs typeface="Calibri" pitchFamily="34" charset="-120"/>
                        </a:rPr>
                        <a:t>PWD</a:t>
                      </a:r>
                      <a:endParaRPr lang="en-US" sz="125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50" dirty="0">
                          <a:solidFill>
                            <a:srgbClr val="172033"/>
                          </a:solidFill>
                          <a:latin typeface="Calibri" pitchFamily="34" charset="0"/>
                          <a:ea typeface="Calibri" pitchFamily="34" charset="-122"/>
                          <a:cs typeface="Calibri" pitchFamily="34" charset="-120"/>
                        </a:rPr>
                        <a:t>Road damage, potholes</a:t>
                      </a:r>
                      <a:endParaRPr lang="en-US" sz="125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50" dirty="0">
                          <a:solidFill>
                            <a:srgbClr val="172033"/>
                          </a:solidFill>
                          <a:latin typeface="Calibri" pitchFamily="34" charset="0"/>
                          <a:ea typeface="Calibri" pitchFamily="34" charset="-122"/>
                          <a:cs typeface="Calibri" pitchFamily="34" charset="-120"/>
                        </a:rPr>
                        <a:t>Queue sorted by severity; school-zone potholes first</a:t>
                      </a:r>
                      <a:endParaRPr lang="en-US" sz="125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53E7C"/>
                          </a:solidFill>
                          <a:latin typeface="Calibri" pitchFamily="34" charset="0"/>
                          <a:ea typeface="Calibri" pitchFamily="34" charset="-122"/>
                          <a:cs typeface="Calibri" pitchFamily="34" charset="-120"/>
                        </a:rPr>
                        <a:t>Jal Sansthan / Jal Nigam</a:t>
                      </a:r>
                      <a:endParaRPr lang="en-US" sz="125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50" dirty="0">
                          <a:solidFill>
                            <a:srgbClr val="172033"/>
                          </a:solidFill>
                          <a:latin typeface="Calibri" pitchFamily="34" charset="0"/>
                          <a:ea typeface="Calibri" pitchFamily="34" charset="-122"/>
                          <a:cs typeface="Calibri" pitchFamily="34" charset="-120"/>
                        </a:rPr>
                        <a:t>Pipe bursts, water leakage</a:t>
                      </a:r>
                      <a:endParaRPr lang="en-US" sz="125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50" dirty="0">
                          <a:solidFill>
                            <a:srgbClr val="172033"/>
                          </a:solidFill>
                          <a:latin typeface="Calibri" pitchFamily="34" charset="0"/>
                          <a:ea typeface="Calibri" pitchFamily="34" charset="-122"/>
                          <a:cs typeface="Calibri" pitchFamily="34" charset="-120"/>
                        </a:rPr>
                        <a:t>Leaks with GPS pin, reach the spot before the road collapses</a:t>
                      </a:r>
                      <a:endParaRPr lang="en-US" sz="125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53E7C"/>
                          </a:solidFill>
                          <a:latin typeface="Calibri" pitchFamily="34" charset="0"/>
                          <a:ea typeface="Calibri" pitchFamily="34" charset="-122"/>
                          <a:cs typeface="Calibri" pitchFamily="34" charset="-120"/>
                        </a:rPr>
                        <a:t>Nagar Nigam / Nagar Palika</a:t>
                      </a:r>
                      <a:endParaRPr lang="en-US" sz="125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50" dirty="0">
                          <a:solidFill>
                            <a:srgbClr val="172033"/>
                          </a:solidFill>
                          <a:latin typeface="Calibri" pitchFamily="34" charset="0"/>
                          <a:ea typeface="Calibri" pitchFamily="34" charset="-122"/>
                          <a:cs typeface="Calibri" pitchFamily="34" charset="-120"/>
                        </a:rPr>
                        <a:t>Garbage, drainage</a:t>
                      </a:r>
                      <a:endParaRPr lang="en-US" sz="125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50" dirty="0">
                          <a:solidFill>
                            <a:srgbClr val="172033"/>
                          </a:solidFill>
                          <a:latin typeface="Calibri" pitchFamily="34" charset="0"/>
                          <a:ea typeface="Calibri" pitchFamily="34" charset="-122"/>
                          <a:cs typeface="Calibri" pitchFamily="34" charset="-120"/>
                        </a:rPr>
                        <a:t>Repeat reports merged into one task per spot</a:t>
                      </a:r>
                      <a:endParaRPr lang="en-US" sz="125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502920">
                <a:tc>
                  <a:txBody>
                    <a:bodyPr/>
                    <a:lstStyle/>
                    <a:p>
                      <a:pPr indent="0" marL="0">
                        <a:buNone/>
                      </a:pPr>
                      <a:r>
                        <a:rPr lang="en-US" sz="1250" b="1" dirty="0">
                          <a:solidFill>
                            <a:srgbClr val="153E7C"/>
                          </a:solidFill>
                          <a:latin typeface="Calibri" pitchFamily="34" charset="0"/>
                          <a:ea typeface="Calibri" pitchFamily="34" charset="-122"/>
                          <a:cs typeface="Calibri" pitchFamily="34" charset="-120"/>
                        </a:rPr>
                        <a:t>Electricity / street lighting</a:t>
                      </a:r>
                      <a:endParaRPr lang="en-US" sz="125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50" dirty="0">
                          <a:solidFill>
                            <a:srgbClr val="172033"/>
                          </a:solidFill>
                          <a:latin typeface="Calibri" pitchFamily="34" charset="0"/>
                          <a:ea typeface="Calibri" pitchFamily="34" charset="-122"/>
                          <a:cs typeface="Calibri" pitchFamily="34" charset="-120"/>
                        </a:rPr>
                        <a:t>Dark streets, broken lamps, live wires</a:t>
                      </a:r>
                      <a:endParaRPr lang="en-US" sz="125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250" dirty="0">
                          <a:solidFill>
                            <a:srgbClr val="172033"/>
                          </a:solidFill>
                          <a:latin typeface="Calibri" pitchFamily="34" charset="0"/>
                          <a:ea typeface="Calibri" pitchFamily="34" charset="-122"/>
                          <a:cs typeface="Calibri" pitchFamily="34" charset="-120"/>
                        </a:rPr>
                        <a:t>Live-wire reports always Critical, top of the queue</a:t>
                      </a:r>
                      <a:endParaRPr lang="en-US" sz="125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bl>
          </a:graphicData>
        </a:graphic>
      </p:graphicFrame>
      <p:sp>
        <p:nvSpPr>
          <p:cNvPr id="9" name="Text 6"/>
          <p:cNvSpPr txBox="1"/>
          <p:nvPr/>
        </p:nvSpPr>
        <p:spPr>
          <a:xfrm>
            <a:off x="457200" y="3977640"/>
            <a:ext cx="8229600" cy="548640"/>
          </a:xfrm>
          <a:prstGeom prst="rect">
            <a:avLst/>
          </a:prstGeom>
          <a:noFill/>
          <a:ln/>
        </p:spPr>
        <p:txBody>
          <a:bodyPr wrap="square" lIns="0" tIns="0" rIns="0" bIns="0" rtlCol="0" anchor="ctr"/>
          <a:lstStyle/>
          <a:p>
            <a:pPr indent="0" marL="0">
              <a:buNone/>
            </a:pPr>
            <a:r>
              <a:rPr lang="en-US" sz="1400" b="1" dirty="0">
                <a:solidFill>
                  <a:srgbClr val="E07010"/>
                </a:solidFill>
                <a:latin typeface="Calibri" pitchFamily="34" charset="0"/>
                <a:ea typeface="Calibri" pitchFamily="34" charset="-122"/>
                <a:cs typeface="Calibri" pitchFamily="34" charset="-120"/>
              </a:rPr>
              <a:t>The citizen is the sensor. The department is the customer. The city office keeps the overview through the dashboard.</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07010"/>
          </a:solidFill>
          <a:ln w="12700">
            <a:solidFill>
              <a:srgbClr val="E07010"/>
            </a:solidFill>
            <a:prstDash val="solid"/>
          </a:ln>
        </p:spPr>
      </p:sp>
      <p:sp>
        <p:nvSpPr>
          <p:cNvPr id="3" name="Text 1"/>
          <p:cNvSpPr txBox="1"/>
          <p:nvPr/>
        </p:nvSpPr>
        <p:spPr>
          <a:xfrm>
            <a:off x="457200" y="201168"/>
            <a:ext cx="6400800" cy="228600"/>
          </a:xfrm>
          <a:prstGeom prst="rect">
            <a:avLst/>
          </a:prstGeom>
          <a:noFill/>
          <a:ln/>
        </p:spPr>
        <p:txBody>
          <a:bodyPr wrap="square" lIns="0" tIns="0" rIns="0" bIns="0" rtlCol="0" anchor="ctr"/>
          <a:lstStyle/>
          <a:p>
            <a:pPr indent="0" marL="0">
              <a:buNone/>
            </a:pPr>
            <a:r>
              <a:rPr lang="en-US" sz="1050" b="1" spc="200" kern="0" dirty="0">
                <a:solidFill>
                  <a:srgbClr val="E07010"/>
                </a:solidFill>
                <a:latin typeface="Calibri" pitchFamily="34" charset="0"/>
                <a:ea typeface="Calibri" pitchFamily="34" charset="-122"/>
                <a:cs typeface="Calibri" pitchFamily="34" charset="-120"/>
              </a:rPr>
              <a:t>THE SOLUTION</a:t>
            </a:r>
            <a:endParaRPr lang="en-US" sz="1050" dirty="0"/>
          </a:p>
        </p:txBody>
      </p:sp>
      <p:sp>
        <p:nvSpPr>
          <p:cNvPr id="4" name="Text 2"/>
          <p:cNvSpPr txBox="1"/>
          <p:nvPr/>
        </p:nvSpPr>
        <p:spPr>
          <a:xfrm>
            <a:off x="457200" y="429768"/>
            <a:ext cx="8229600" cy="685800"/>
          </a:xfrm>
          <a:prstGeom prst="rect">
            <a:avLst/>
          </a:prstGeom>
          <a:noFill/>
          <a:ln/>
        </p:spPr>
        <p:txBody>
          <a:bodyPr wrap="square" lIns="0" tIns="0" rIns="0" bIns="0" rtlCol="0" anchor="t"/>
          <a:lstStyle/>
          <a:p>
            <a:pPr indent="0" marL="0">
              <a:buNone/>
            </a:pPr>
            <a:r>
              <a:rPr lang="en-US" sz="2300" b="1" dirty="0">
                <a:solidFill>
                  <a:srgbClr val="153E7C"/>
                </a:solidFill>
                <a:latin typeface="Calibri" pitchFamily="34" charset="0"/>
                <a:ea typeface="Calibri" pitchFamily="34" charset="-122"/>
                <a:cs typeface="Calibri" pitchFamily="34" charset="-120"/>
              </a:rPr>
              <a:t>From photo to verified closure in five steps</a:t>
            </a:r>
            <a:endParaRPr lang="en-US" sz="2300" dirty="0"/>
          </a:p>
        </p:txBody>
      </p:sp>
      <p:sp>
        <p:nvSpPr>
          <p:cNvPr id="5" name="Text 3"/>
          <p:cNvSpPr txBox="1"/>
          <p:nvPr/>
        </p:nvSpPr>
        <p:spPr>
          <a:xfrm>
            <a:off x="457200" y="4828032"/>
            <a:ext cx="4572000" cy="201168"/>
          </a:xfrm>
          <a:prstGeom prst="rect">
            <a:avLst/>
          </a:prstGeom>
          <a:noFill/>
          <a:ln/>
        </p:spPr>
        <p:txBody>
          <a:bodyPr wrap="square" lIns="0" tIns="0" rIns="0" bIns="0" rtlCol="0" anchor="ctr"/>
          <a:lstStyle/>
          <a:p>
            <a:pPr indent="0" marL="0">
              <a:buNone/>
            </a:pPr>
            <a:r>
              <a:rPr lang="en-US" sz="900" dirty="0">
                <a:solidFill>
                  <a:srgbClr val="56627A"/>
                </a:solidFill>
                <a:latin typeface="Calibri" pitchFamily="34" charset="0"/>
                <a:ea typeface="Calibri" pitchFamily="34" charset="-122"/>
                <a:cs typeface="Calibri" pitchFamily="34" charset="-120"/>
              </a:rPr>
              <a:t>Chaukas AI  |  Team Shivay</a:t>
            </a:r>
            <a:endParaRPr lang="en-US" sz="900" dirty="0"/>
          </a:p>
        </p:txBody>
      </p:sp>
      <p:sp>
        <p:nvSpPr>
          <p:cNvPr id="6" name="Text 4"/>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56627A"/>
                </a:solidFill>
                <a:latin typeface="Calibri" pitchFamily="34" charset="0"/>
                <a:ea typeface="Calibri" pitchFamily="34" charset="-122"/>
                <a:cs typeface="Calibri" pitchFamily="34" charset="-120"/>
              </a:rPr>
              <a:t>4</a:t>
            </a:r>
            <a:endParaRPr lang="en-US" sz="900" dirty="0"/>
          </a:p>
        </p:txBody>
      </p:sp>
      <p:sp>
        <p:nvSpPr>
          <p:cNvPr id="7" name="Text 5"/>
          <p:cNvSpPr txBox="1"/>
          <p:nvPr/>
        </p:nvSpPr>
        <p:spPr>
          <a:xfrm>
            <a:off x="5669280" y="201168"/>
            <a:ext cx="3017520" cy="228600"/>
          </a:xfrm>
          <a:prstGeom prst="rect">
            <a:avLst/>
          </a:prstGeom>
          <a:noFill/>
          <a:ln/>
        </p:spPr>
        <p:txBody>
          <a:bodyPr wrap="square" lIns="0" tIns="0" rIns="0" bIns="0" rtlCol="0" anchor="ctr"/>
          <a:lstStyle/>
          <a:p>
            <a:pPr algn="r" indent="0" marL="0">
              <a:buNone/>
            </a:pPr>
            <a:r>
              <a:rPr lang="en-US" sz="950" dirty="0">
                <a:solidFill>
                  <a:srgbClr val="56627A"/>
                </a:solidFill>
                <a:latin typeface="Calibri" pitchFamily="34" charset="0"/>
                <a:ea typeface="Calibri" pitchFamily="34" charset="-122"/>
                <a:cs typeface="Calibri" pitchFamily="34" charset="-120"/>
              </a:rPr>
              <a:t>Presents: Nikhil</a:t>
            </a:r>
            <a:endParaRPr lang="en-US" sz="950" dirty="0"/>
          </a:p>
        </p:txBody>
      </p:sp>
      <p:sp>
        <p:nvSpPr>
          <p:cNvPr id="8" name="Shape 6"/>
          <p:cNvSpPr/>
          <p:nvPr/>
        </p:nvSpPr>
        <p:spPr>
          <a:xfrm>
            <a:off x="457200" y="1417320"/>
            <a:ext cx="1572768" cy="2331720"/>
          </a:xfrm>
          <a:prstGeom prst="rect">
            <a:avLst/>
          </a:prstGeom>
          <a:solidFill>
            <a:srgbClr val="FFFFFF"/>
          </a:solidFill>
          <a:ln w="9525">
            <a:solidFill>
              <a:srgbClr val="D9DEE7"/>
            </a:solidFill>
            <a:prstDash val="solid"/>
          </a:ln>
        </p:spPr>
      </p:sp>
      <p:sp>
        <p:nvSpPr>
          <p:cNvPr id="9" name="Shape 7"/>
          <p:cNvSpPr/>
          <p:nvPr/>
        </p:nvSpPr>
        <p:spPr>
          <a:xfrm>
            <a:off x="594360" y="1554480"/>
            <a:ext cx="411480" cy="411480"/>
          </a:xfrm>
          <a:prstGeom prst="ellipse">
            <a:avLst/>
          </a:prstGeom>
          <a:solidFill>
            <a:srgbClr val="153E7C"/>
          </a:solidFill>
          <a:ln w="12700">
            <a:solidFill>
              <a:srgbClr val="FFFFFF"/>
            </a:solidFill>
            <a:prstDash val="solid"/>
          </a:ln>
        </p:spPr>
      </p:sp>
      <p:sp>
        <p:nvSpPr>
          <p:cNvPr id="10" name="Text 8"/>
          <p:cNvSpPr txBox="1"/>
          <p:nvPr/>
        </p:nvSpPr>
        <p:spPr>
          <a:xfrm>
            <a:off x="594360" y="15544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11" name="Text 9"/>
          <p:cNvSpPr txBox="1"/>
          <p:nvPr/>
        </p:nvSpPr>
        <p:spPr>
          <a:xfrm>
            <a:off x="594360" y="2084832"/>
            <a:ext cx="1325880" cy="320040"/>
          </a:xfrm>
          <a:prstGeom prst="rect">
            <a:avLst/>
          </a:prstGeom>
          <a:noFill/>
          <a:ln/>
        </p:spPr>
        <p:txBody>
          <a:bodyPr wrap="square" lIns="0" tIns="0" rIns="0" bIns="0" rtlCol="0" anchor="ctr"/>
          <a:lstStyle/>
          <a:p>
            <a:pPr indent="0" marL="0">
              <a:buNone/>
            </a:pPr>
            <a:r>
              <a:rPr lang="en-US" sz="1500" b="1" dirty="0">
                <a:solidFill>
                  <a:srgbClr val="153E7C"/>
                </a:solidFill>
                <a:latin typeface="Calibri" pitchFamily="34" charset="0"/>
                <a:ea typeface="Calibri" pitchFamily="34" charset="-122"/>
                <a:cs typeface="Calibri" pitchFamily="34" charset="-120"/>
              </a:rPr>
              <a:t>Capture</a:t>
            </a:r>
            <a:endParaRPr lang="en-US" sz="1500" dirty="0"/>
          </a:p>
        </p:txBody>
      </p:sp>
      <p:sp>
        <p:nvSpPr>
          <p:cNvPr id="12" name="Text 10"/>
          <p:cNvSpPr txBox="1"/>
          <p:nvPr/>
        </p:nvSpPr>
        <p:spPr>
          <a:xfrm>
            <a:off x="594360" y="2450592"/>
            <a:ext cx="1325880" cy="1234440"/>
          </a:xfrm>
          <a:prstGeom prst="rect">
            <a:avLst/>
          </a:prstGeom>
          <a:noFill/>
          <a:ln/>
        </p:spPr>
        <p:txBody>
          <a:bodyPr wrap="square" lIns="0" tIns="0" rIns="0" bIns="0" rtlCol="0" anchor="t"/>
          <a:lstStyle/>
          <a:p>
            <a:pPr indent="0" marL="0">
              <a:buNone/>
            </a:pPr>
            <a:r>
              <a:rPr lang="en-US" sz="1150" dirty="0">
                <a:solidFill>
                  <a:srgbClr val="172033"/>
                </a:solidFill>
                <a:latin typeface="Calibri" pitchFamily="34" charset="0"/>
                <a:ea typeface="Calibri" pitchFamily="34" charset="-122"/>
                <a:cs typeface="Calibri" pitchFamily="34" charset="-120"/>
              </a:rPr>
              <a:t>Photo, GPS, voice or text note in Hindi or English</a:t>
            </a:r>
            <a:endParaRPr lang="en-US" sz="1150" dirty="0"/>
          </a:p>
        </p:txBody>
      </p:sp>
      <p:sp>
        <p:nvSpPr>
          <p:cNvPr id="13" name="Shape 11"/>
          <p:cNvSpPr/>
          <p:nvPr/>
        </p:nvSpPr>
        <p:spPr>
          <a:xfrm>
            <a:off x="2139696" y="1417320"/>
            <a:ext cx="1572768" cy="2331720"/>
          </a:xfrm>
          <a:prstGeom prst="rect">
            <a:avLst/>
          </a:prstGeom>
          <a:solidFill>
            <a:srgbClr val="FFFFFF"/>
          </a:solidFill>
          <a:ln w="9525">
            <a:solidFill>
              <a:srgbClr val="D9DEE7"/>
            </a:solidFill>
            <a:prstDash val="solid"/>
          </a:ln>
        </p:spPr>
      </p:sp>
      <p:sp>
        <p:nvSpPr>
          <p:cNvPr id="14" name="Shape 12"/>
          <p:cNvSpPr/>
          <p:nvPr/>
        </p:nvSpPr>
        <p:spPr>
          <a:xfrm>
            <a:off x="2276856" y="1554480"/>
            <a:ext cx="411480" cy="411480"/>
          </a:xfrm>
          <a:prstGeom prst="ellipse">
            <a:avLst/>
          </a:prstGeom>
          <a:solidFill>
            <a:srgbClr val="153E7C"/>
          </a:solidFill>
          <a:ln w="12700">
            <a:solidFill>
              <a:srgbClr val="FFFFFF"/>
            </a:solidFill>
            <a:prstDash val="solid"/>
          </a:ln>
        </p:spPr>
      </p:sp>
      <p:sp>
        <p:nvSpPr>
          <p:cNvPr id="15" name="Text 13"/>
          <p:cNvSpPr txBox="1"/>
          <p:nvPr/>
        </p:nvSpPr>
        <p:spPr>
          <a:xfrm>
            <a:off x="2276856" y="15544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6" name="Text 14"/>
          <p:cNvSpPr txBox="1"/>
          <p:nvPr/>
        </p:nvSpPr>
        <p:spPr>
          <a:xfrm>
            <a:off x="2276856" y="2084832"/>
            <a:ext cx="1325880" cy="320040"/>
          </a:xfrm>
          <a:prstGeom prst="rect">
            <a:avLst/>
          </a:prstGeom>
          <a:noFill/>
          <a:ln/>
        </p:spPr>
        <p:txBody>
          <a:bodyPr wrap="square" lIns="0" tIns="0" rIns="0" bIns="0" rtlCol="0" anchor="ctr"/>
          <a:lstStyle/>
          <a:p>
            <a:pPr indent="0" marL="0">
              <a:buNone/>
            </a:pPr>
            <a:r>
              <a:rPr lang="en-US" sz="1500" b="1" dirty="0">
                <a:solidFill>
                  <a:srgbClr val="153E7C"/>
                </a:solidFill>
                <a:latin typeface="Calibri" pitchFamily="34" charset="0"/>
                <a:ea typeface="Calibri" pitchFamily="34" charset="-122"/>
                <a:cs typeface="Calibri" pitchFamily="34" charset="-120"/>
              </a:rPr>
              <a:t>Understand</a:t>
            </a:r>
            <a:endParaRPr lang="en-US" sz="1500" dirty="0"/>
          </a:p>
        </p:txBody>
      </p:sp>
      <p:sp>
        <p:nvSpPr>
          <p:cNvPr id="17" name="Text 15"/>
          <p:cNvSpPr txBox="1"/>
          <p:nvPr/>
        </p:nvSpPr>
        <p:spPr>
          <a:xfrm>
            <a:off x="2276856" y="2450592"/>
            <a:ext cx="1325880" cy="1234440"/>
          </a:xfrm>
          <a:prstGeom prst="rect">
            <a:avLst/>
          </a:prstGeom>
          <a:noFill/>
          <a:ln/>
        </p:spPr>
        <p:txBody>
          <a:bodyPr wrap="square" lIns="0" tIns="0" rIns="0" bIns="0" rtlCol="0" anchor="t"/>
          <a:lstStyle/>
          <a:p>
            <a:pPr indent="0" marL="0">
              <a:buNone/>
            </a:pPr>
            <a:r>
              <a:rPr lang="en-US" sz="1150" dirty="0">
                <a:solidFill>
                  <a:srgbClr val="172033"/>
                </a:solidFill>
                <a:latin typeface="Calibri" pitchFamily="34" charset="0"/>
                <a:ea typeface="Calibri" pitchFamily="34" charset="-122"/>
                <a:cs typeface="Calibri" pitchFamily="34" charset="-120"/>
              </a:rPr>
              <a:t>Vision AI confirms a real civic issue, names category, rates damage</a:t>
            </a:r>
            <a:endParaRPr lang="en-US" sz="1150" dirty="0"/>
          </a:p>
        </p:txBody>
      </p:sp>
      <p:sp>
        <p:nvSpPr>
          <p:cNvPr id="18" name="Shape 16"/>
          <p:cNvSpPr/>
          <p:nvPr/>
        </p:nvSpPr>
        <p:spPr>
          <a:xfrm>
            <a:off x="3822192" y="1417320"/>
            <a:ext cx="1572768" cy="2331720"/>
          </a:xfrm>
          <a:prstGeom prst="rect">
            <a:avLst/>
          </a:prstGeom>
          <a:solidFill>
            <a:srgbClr val="FFFFFF"/>
          </a:solidFill>
          <a:ln w="9525">
            <a:solidFill>
              <a:srgbClr val="D9DEE7"/>
            </a:solidFill>
            <a:prstDash val="solid"/>
          </a:ln>
        </p:spPr>
      </p:sp>
      <p:sp>
        <p:nvSpPr>
          <p:cNvPr id="19" name="Shape 17"/>
          <p:cNvSpPr/>
          <p:nvPr/>
        </p:nvSpPr>
        <p:spPr>
          <a:xfrm>
            <a:off x="3959352" y="1554480"/>
            <a:ext cx="411480" cy="411480"/>
          </a:xfrm>
          <a:prstGeom prst="ellipse">
            <a:avLst/>
          </a:prstGeom>
          <a:solidFill>
            <a:srgbClr val="153E7C"/>
          </a:solidFill>
          <a:ln w="12700">
            <a:solidFill>
              <a:srgbClr val="FFFFFF"/>
            </a:solidFill>
            <a:prstDash val="solid"/>
          </a:ln>
        </p:spPr>
      </p:sp>
      <p:sp>
        <p:nvSpPr>
          <p:cNvPr id="20" name="Text 18"/>
          <p:cNvSpPr txBox="1"/>
          <p:nvPr/>
        </p:nvSpPr>
        <p:spPr>
          <a:xfrm>
            <a:off x="3959352" y="15544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21" name="Text 19"/>
          <p:cNvSpPr txBox="1"/>
          <p:nvPr/>
        </p:nvSpPr>
        <p:spPr>
          <a:xfrm>
            <a:off x="3959352" y="2084832"/>
            <a:ext cx="1325880" cy="320040"/>
          </a:xfrm>
          <a:prstGeom prst="rect">
            <a:avLst/>
          </a:prstGeom>
          <a:noFill/>
          <a:ln/>
        </p:spPr>
        <p:txBody>
          <a:bodyPr wrap="square" lIns="0" tIns="0" rIns="0" bIns="0" rtlCol="0" anchor="ctr"/>
          <a:lstStyle/>
          <a:p>
            <a:pPr indent="0" marL="0">
              <a:buNone/>
            </a:pPr>
            <a:r>
              <a:rPr lang="en-US" sz="1500" b="1" dirty="0">
                <a:solidFill>
                  <a:srgbClr val="153E7C"/>
                </a:solidFill>
                <a:latin typeface="Calibri" pitchFamily="34" charset="0"/>
                <a:ea typeface="Calibri" pitchFamily="34" charset="-122"/>
                <a:cs typeface="Calibri" pitchFamily="34" charset="-120"/>
              </a:rPr>
              <a:t>Prioritise</a:t>
            </a:r>
            <a:endParaRPr lang="en-US" sz="1500" dirty="0"/>
          </a:p>
        </p:txBody>
      </p:sp>
      <p:sp>
        <p:nvSpPr>
          <p:cNvPr id="22" name="Text 20"/>
          <p:cNvSpPr txBox="1"/>
          <p:nvPr/>
        </p:nvSpPr>
        <p:spPr>
          <a:xfrm>
            <a:off x="3959352" y="2450592"/>
            <a:ext cx="1325880" cy="1234440"/>
          </a:xfrm>
          <a:prstGeom prst="rect">
            <a:avLst/>
          </a:prstGeom>
          <a:noFill/>
          <a:ln/>
        </p:spPr>
        <p:txBody>
          <a:bodyPr wrap="square" lIns="0" tIns="0" rIns="0" bIns="0" rtlCol="0" anchor="t"/>
          <a:lstStyle/>
          <a:p>
            <a:pPr indent="0" marL="0">
              <a:buNone/>
            </a:pPr>
            <a:r>
              <a:rPr lang="en-US" sz="1150" dirty="0">
                <a:solidFill>
                  <a:srgbClr val="172033"/>
                </a:solidFill>
                <a:latin typeface="Calibri" pitchFamily="34" charset="0"/>
                <a:ea typeface="Calibri" pitchFamily="34" charset="-122"/>
                <a:cs typeface="Calibri" pitchFamily="34" charset="-120"/>
              </a:rPr>
              <a:t>School/hospital nearby, main road, repeat reports, safety words</a:t>
            </a:r>
            <a:endParaRPr lang="en-US" sz="1150" dirty="0"/>
          </a:p>
        </p:txBody>
      </p:sp>
      <p:sp>
        <p:nvSpPr>
          <p:cNvPr id="23" name="Shape 21"/>
          <p:cNvSpPr/>
          <p:nvPr/>
        </p:nvSpPr>
        <p:spPr>
          <a:xfrm>
            <a:off x="5504688" y="1417320"/>
            <a:ext cx="1572768" cy="2331720"/>
          </a:xfrm>
          <a:prstGeom prst="rect">
            <a:avLst/>
          </a:prstGeom>
          <a:solidFill>
            <a:srgbClr val="FFFFFF"/>
          </a:solidFill>
          <a:ln w="9525">
            <a:solidFill>
              <a:srgbClr val="D9DEE7"/>
            </a:solidFill>
            <a:prstDash val="solid"/>
          </a:ln>
        </p:spPr>
      </p:sp>
      <p:sp>
        <p:nvSpPr>
          <p:cNvPr id="24" name="Shape 22"/>
          <p:cNvSpPr/>
          <p:nvPr/>
        </p:nvSpPr>
        <p:spPr>
          <a:xfrm>
            <a:off x="5641848" y="1554480"/>
            <a:ext cx="411480" cy="411480"/>
          </a:xfrm>
          <a:prstGeom prst="ellipse">
            <a:avLst/>
          </a:prstGeom>
          <a:solidFill>
            <a:srgbClr val="153E7C"/>
          </a:solidFill>
          <a:ln w="12700">
            <a:solidFill>
              <a:srgbClr val="FFFFFF"/>
            </a:solidFill>
            <a:prstDash val="solid"/>
          </a:ln>
        </p:spPr>
      </p:sp>
      <p:sp>
        <p:nvSpPr>
          <p:cNvPr id="25" name="Text 23"/>
          <p:cNvSpPr txBox="1"/>
          <p:nvPr/>
        </p:nvSpPr>
        <p:spPr>
          <a:xfrm>
            <a:off x="5641848" y="15544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6" name="Text 24"/>
          <p:cNvSpPr txBox="1"/>
          <p:nvPr/>
        </p:nvSpPr>
        <p:spPr>
          <a:xfrm>
            <a:off x="5641848" y="2084832"/>
            <a:ext cx="1325880" cy="320040"/>
          </a:xfrm>
          <a:prstGeom prst="rect">
            <a:avLst/>
          </a:prstGeom>
          <a:noFill/>
          <a:ln/>
        </p:spPr>
        <p:txBody>
          <a:bodyPr wrap="square" lIns="0" tIns="0" rIns="0" bIns="0" rtlCol="0" anchor="ctr"/>
          <a:lstStyle/>
          <a:p>
            <a:pPr indent="0" marL="0">
              <a:buNone/>
            </a:pPr>
            <a:r>
              <a:rPr lang="en-US" sz="1500" b="1" dirty="0">
                <a:solidFill>
                  <a:srgbClr val="153E7C"/>
                </a:solidFill>
                <a:latin typeface="Calibri" pitchFamily="34" charset="0"/>
                <a:ea typeface="Calibri" pitchFamily="34" charset="-122"/>
                <a:cs typeface="Calibri" pitchFamily="34" charset="-120"/>
              </a:rPr>
              <a:t>Route</a:t>
            </a:r>
            <a:endParaRPr lang="en-US" sz="1500" dirty="0"/>
          </a:p>
        </p:txBody>
      </p:sp>
      <p:sp>
        <p:nvSpPr>
          <p:cNvPr id="27" name="Text 25"/>
          <p:cNvSpPr txBox="1"/>
          <p:nvPr/>
        </p:nvSpPr>
        <p:spPr>
          <a:xfrm>
            <a:off x="5641848" y="2450592"/>
            <a:ext cx="1325880" cy="1234440"/>
          </a:xfrm>
          <a:prstGeom prst="rect">
            <a:avLst/>
          </a:prstGeom>
          <a:noFill/>
          <a:ln/>
        </p:spPr>
        <p:txBody>
          <a:bodyPr wrap="square" lIns="0" tIns="0" rIns="0" bIns="0" rtlCol="0" anchor="t"/>
          <a:lstStyle/>
          <a:p>
            <a:pPr indent="0" marL="0">
              <a:buNone/>
            </a:pPr>
            <a:r>
              <a:rPr lang="en-US" sz="1150" dirty="0">
                <a:solidFill>
                  <a:srgbClr val="172033"/>
                </a:solidFill>
                <a:latin typeface="Calibri" pitchFamily="34" charset="0"/>
                <a:ea typeface="Calibri" pitchFamily="34" charset="-122"/>
                <a:cs typeface="Calibri" pitchFamily="34" charset="-120"/>
              </a:rPr>
              <a:t>Right department for that city, with a formal letter (EN + HI)</a:t>
            </a:r>
            <a:endParaRPr lang="en-US" sz="1150" dirty="0"/>
          </a:p>
        </p:txBody>
      </p:sp>
      <p:sp>
        <p:nvSpPr>
          <p:cNvPr id="28" name="Shape 26"/>
          <p:cNvSpPr/>
          <p:nvPr/>
        </p:nvSpPr>
        <p:spPr>
          <a:xfrm>
            <a:off x="7187184" y="1417320"/>
            <a:ext cx="1572768" cy="2331720"/>
          </a:xfrm>
          <a:prstGeom prst="rect">
            <a:avLst/>
          </a:prstGeom>
          <a:solidFill>
            <a:srgbClr val="FFFFFF"/>
          </a:solidFill>
          <a:ln w="9525">
            <a:solidFill>
              <a:srgbClr val="D9DEE7"/>
            </a:solidFill>
            <a:prstDash val="solid"/>
          </a:ln>
        </p:spPr>
      </p:sp>
      <p:sp>
        <p:nvSpPr>
          <p:cNvPr id="29" name="Shape 27"/>
          <p:cNvSpPr/>
          <p:nvPr/>
        </p:nvSpPr>
        <p:spPr>
          <a:xfrm>
            <a:off x="7324344" y="1554480"/>
            <a:ext cx="411480" cy="411480"/>
          </a:xfrm>
          <a:prstGeom prst="ellipse">
            <a:avLst/>
          </a:prstGeom>
          <a:solidFill>
            <a:srgbClr val="138808"/>
          </a:solidFill>
          <a:ln w="12700">
            <a:solidFill>
              <a:srgbClr val="FFFFFF"/>
            </a:solidFill>
            <a:prstDash val="solid"/>
          </a:ln>
        </p:spPr>
      </p:sp>
      <p:sp>
        <p:nvSpPr>
          <p:cNvPr id="30" name="Text 28"/>
          <p:cNvSpPr txBox="1"/>
          <p:nvPr/>
        </p:nvSpPr>
        <p:spPr>
          <a:xfrm>
            <a:off x="7324344" y="155448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31" name="Text 29"/>
          <p:cNvSpPr txBox="1"/>
          <p:nvPr/>
        </p:nvSpPr>
        <p:spPr>
          <a:xfrm>
            <a:off x="7324344" y="2084832"/>
            <a:ext cx="1325880" cy="320040"/>
          </a:xfrm>
          <a:prstGeom prst="rect">
            <a:avLst/>
          </a:prstGeom>
          <a:noFill/>
          <a:ln/>
        </p:spPr>
        <p:txBody>
          <a:bodyPr wrap="square" lIns="0" tIns="0" rIns="0" bIns="0" rtlCol="0" anchor="ctr"/>
          <a:lstStyle/>
          <a:p>
            <a:pPr indent="0" marL="0">
              <a:buNone/>
            </a:pPr>
            <a:r>
              <a:rPr lang="en-US" sz="1500" b="1" dirty="0">
                <a:solidFill>
                  <a:srgbClr val="153E7C"/>
                </a:solidFill>
                <a:latin typeface="Calibri" pitchFamily="34" charset="0"/>
                <a:ea typeface="Calibri" pitchFamily="34" charset="-122"/>
                <a:cs typeface="Calibri" pitchFamily="34" charset="-120"/>
              </a:rPr>
              <a:t>Verify</a:t>
            </a:r>
            <a:endParaRPr lang="en-US" sz="1500" dirty="0"/>
          </a:p>
        </p:txBody>
      </p:sp>
      <p:sp>
        <p:nvSpPr>
          <p:cNvPr id="32" name="Text 30"/>
          <p:cNvSpPr txBox="1"/>
          <p:nvPr/>
        </p:nvSpPr>
        <p:spPr>
          <a:xfrm>
            <a:off x="7324344" y="2450592"/>
            <a:ext cx="1325880" cy="1234440"/>
          </a:xfrm>
          <a:prstGeom prst="rect">
            <a:avLst/>
          </a:prstGeom>
          <a:noFill/>
          <a:ln/>
        </p:spPr>
        <p:txBody>
          <a:bodyPr wrap="square" lIns="0" tIns="0" rIns="0" bIns="0" rtlCol="0" anchor="t"/>
          <a:lstStyle/>
          <a:p>
            <a:pPr indent="0" marL="0">
              <a:buNone/>
            </a:pPr>
            <a:r>
              <a:rPr lang="en-US" sz="1150" dirty="0">
                <a:solidFill>
                  <a:srgbClr val="172033"/>
                </a:solidFill>
                <a:latin typeface="Calibri" pitchFamily="34" charset="0"/>
                <a:ea typeface="Calibri" pitchFamily="34" charset="-122"/>
                <a:cs typeface="Calibri" pitchFamily="34" charset="-120"/>
              </a:rPr>
              <a:t>After-photo checked by AI at the same GPS spot before closing</a:t>
            </a:r>
            <a:endParaRPr lang="en-US" sz="1150" dirty="0"/>
          </a:p>
        </p:txBody>
      </p:sp>
      <p:sp>
        <p:nvSpPr>
          <p:cNvPr id="33" name="Text 31"/>
          <p:cNvSpPr txBox="1"/>
          <p:nvPr/>
        </p:nvSpPr>
        <p:spPr>
          <a:xfrm>
            <a:off x="457200" y="4023360"/>
            <a:ext cx="8229600" cy="365760"/>
          </a:xfrm>
          <a:prstGeom prst="rect">
            <a:avLst/>
          </a:prstGeom>
          <a:noFill/>
          <a:ln/>
        </p:spPr>
        <p:txBody>
          <a:bodyPr wrap="square" lIns="0" tIns="0" rIns="0" bIns="0" rtlCol="0" anchor="ctr"/>
          <a:lstStyle/>
          <a:p>
            <a:pPr indent="0" marL="0">
              <a:buNone/>
            </a:pPr>
            <a:r>
              <a:rPr lang="en-US" sz="1300" dirty="0">
                <a:solidFill>
                  <a:srgbClr val="56627A"/>
                </a:solidFill>
                <a:latin typeface="Calibri" pitchFamily="34" charset="0"/>
                <a:ea typeface="Calibri" pitchFamily="34" charset="-122"/>
                <a:cs typeface="Calibri" pitchFamily="34" charset="-120"/>
              </a:rPr>
              <a:t>Complaint creation takes about 12 seconds on our laptop. Closure verification takes 3 to 4 seconds.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07010"/>
          </a:solidFill>
          <a:ln w="12700">
            <a:solidFill>
              <a:srgbClr val="E07010"/>
            </a:solidFill>
            <a:prstDash val="solid"/>
          </a:ln>
        </p:spPr>
      </p:sp>
      <p:sp>
        <p:nvSpPr>
          <p:cNvPr id="3" name="Text 1"/>
          <p:cNvSpPr txBox="1"/>
          <p:nvPr/>
        </p:nvSpPr>
        <p:spPr>
          <a:xfrm>
            <a:off x="457200" y="201168"/>
            <a:ext cx="6400800" cy="228600"/>
          </a:xfrm>
          <a:prstGeom prst="rect">
            <a:avLst/>
          </a:prstGeom>
          <a:noFill/>
          <a:ln/>
        </p:spPr>
        <p:txBody>
          <a:bodyPr wrap="square" lIns="0" tIns="0" rIns="0" bIns="0" rtlCol="0" anchor="ctr"/>
          <a:lstStyle/>
          <a:p>
            <a:pPr indent="0" marL="0">
              <a:buNone/>
            </a:pPr>
            <a:r>
              <a:rPr lang="en-US" sz="1050" b="1" spc="200" kern="0" dirty="0">
                <a:solidFill>
                  <a:srgbClr val="E07010"/>
                </a:solidFill>
                <a:latin typeface="Calibri" pitchFamily="34" charset="0"/>
                <a:ea typeface="Calibri" pitchFamily="34" charset="-122"/>
                <a:cs typeface="Calibri" pitchFamily="34" charset="-120"/>
              </a:rPr>
              <a:t>LIVE PRODUCT - REAL SCREENSHOTS</a:t>
            </a:r>
            <a:endParaRPr lang="en-US" sz="1050" dirty="0"/>
          </a:p>
        </p:txBody>
      </p:sp>
      <p:sp>
        <p:nvSpPr>
          <p:cNvPr id="4" name="Text 2"/>
          <p:cNvSpPr txBox="1"/>
          <p:nvPr/>
        </p:nvSpPr>
        <p:spPr>
          <a:xfrm>
            <a:off x="457200" y="429768"/>
            <a:ext cx="8229600" cy="685800"/>
          </a:xfrm>
          <a:prstGeom prst="rect">
            <a:avLst/>
          </a:prstGeom>
          <a:noFill/>
          <a:ln/>
        </p:spPr>
        <p:txBody>
          <a:bodyPr wrap="square" lIns="0" tIns="0" rIns="0" bIns="0" rtlCol="0" anchor="t"/>
          <a:lstStyle/>
          <a:p>
            <a:pPr indent="0" marL="0">
              <a:buNone/>
            </a:pPr>
            <a:r>
              <a:rPr lang="en-US" sz="2300" b="1" dirty="0">
                <a:solidFill>
                  <a:srgbClr val="153E7C"/>
                </a:solidFill>
                <a:latin typeface="Calibri" pitchFamily="34" charset="0"/>
                <a:ea typeface="Calibri" pitchFamily="34" charset="-122"/>
                <a:cs typeface="Calibri" pitchFamily="34" charset="-120"/>
              </a:rPr>
              <a:t>Citizen side: three steps, about thirty seconds</a:t>
            </a:r>
            <a:endParaRPr lang="en-US" sz="2300" dirty="0"/>
          </a:p>
        </p:txBody>
      </p:sp>
      <p:sp>
        <p:nvSpPr>
          <p:cNvPr id="5" name="Text 3"/>
          <p:cNvSpPr txBox="1"/>
          <p:nvPr/>
        </p:nvSpPr>
        <p:spPr>
          <a:xfrm>
            <a:off x="457200" y="4828032"/>
            <a:ext cx="4572000" cy="201168"/>
          </a:xfrm>
          <a:prstGeom prst="rect">
            <a:avLst/>
          </a:prstGeom>
          <a:noFill/>
          <a:ln/>
        </p:spPr>
        <p:txBody>
          <a:bodyPr wrap="square" lIns="0" tIns="0" rIns="0" bIns="0" rtlCol="0" anchor="ctr"/>
          <a:lstStyle/>
          <a:p>
            <a:pPr indent="0" marL="0">
              <a:buNone/>
            </a:pPr>
            <a:r>
              <a:rPr lang="en-US" sz="900" dirty="0">
                <a:solidFill>
                  <a:srgbClr val="56627A"/>
                </a:solidFill>
                <a:latin typeface="Calibri" pitchFamily="34" charset="0"/>
                <a:ea typeface="Calibri" pitchFamily="34" charset="-122"/>
                <a:cs typeface="Calibri" pitchFamily="34" charset="-120"/>
              </a:rPr>
              <a:t>Chaukas AI  |  Team Shivay</a:t>
            </a:r>
            <a:endParaRPr lang="en-US" sz="900" dirty="0"/>
          </a:p>
        </p:txBody>
      </p:sp>
      <p:sp>
        <p:nvSpPr>
          <p:cNvPr id="6" name="Text 4"/>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56627A"/>
                </a:solidFill>
                <a:latin typeface="Calibri" pitchFamily="34" charset="0"/>
                <a:ea typeface="Calibri" pitchFamily="34" charset="-122"/>
                <a:cs typeface="Calibri" pitchFamily="34" charset="-120"/>
              </a:rPr>
              <a:t>5</a:t>
            </a:r>
            <a:endParaRPr lang="en-US" sz="900" dirty="0"/>
          </a:p>
        </p:txBody>
      </p:sp>
      <p:sp>
        <p:nvSpPr>
          <p:cNvPr id="7" name="Text 5"/>
          <p:cNvSpPr txBox="1"/>
          <p:nvPr/>
        </p:nvSpPr>
        <p:spPr>
          <a:xfrm>
            <a:off x="5669280" y="201168"/>
            <a:ext cx="3017520" cy="228600"/>
          </a:xfrm>
          <a:prstGeom prst="rect">
            <a:avLst/>
          </a:prstGeom>
          <a:noFill/>
          <a:ln/>
        </p:spPr>
        <p:txBody>
          <a:bodyPr wrap="square" lIns="0" tIns="0" rIns="0" bIns="0" rtlCol="0" anchor="ctr"/>
          <a:lstStyle/>
          <a:p>
            <a:pPr algn="r" indent="0" marL="0">
              <a:buNone/>
            </a:pPr>
            <a:r>
              <a:rPr lang="en-US" sz="950" dirty="0">
                <a:solidFill>
                  <a:srgbClr val="56627A"/>
                </a:solidFill>
                <a:latin typeface="Calibri" pitchFamily="34" charset="0"/>
                <a:ea typeface="Calibri" pitchFamily="34" charset="-122"/>
                <a:cs typeface="Calibri" pitchFamily="34" charset="-120"/>
              </a:rPr>
              <a:t>Presents: Madhav</a:t>
            </a:r>
            <a:endParaRPr lang="en-US" sz="950" dirty="0"/>
          </a:p>
        </p:txBody>
      </p:sp>
      <p:pic>
        <p:nvPicPr>
          <p:cNvPr id="8" name="Image 0" descr="/tmp/claude-0/work/demo/road_1_photo.png">    </p:cNvPr>
          <p:cNvPicPr>
            <a:picLocks noChangeAspect="1"/>
          </p:cNvPicPr>
          <p:nvPr/>
        </p:nvPicPr>
        <p:blipFill>
          <a:blip r:embed="rId1"/>
          <a:stretch>
            <a:fillRect/>
          </a:stretch>
        </p:blipFill>
        <p:spPr>
          <a:xfrm>
            <a:off x="457200" y="1325880"/>
            <a:ext cx="2651760" cy="1657350"/>
          </a:xfrm>
          <a:prstGeom prst="rect">
            <a:avLst/>
          </a:prstGeom>
        </p:spPr>
      </p:pic>
      <p:sp>
        <p:nvSpPr>
          <p:cNvPr id="9" name="Shape 6"/>
          <p:cNvSpPr/>
          <p:nvPr/>
        </p:nvSpPr>
        <p:spPr>
          <a:xfrm>
            <a:off x="457200" y="1325880"/>
            <a:ext cx="2651760" cy="1657350"/>
          </a:xfrm>
          <a:prstGeom prst="rect">
            <a:avLst/>
          </a:prstGeom>
          <a:ln w="12700">
            <a:solidFill>
              <a:srgbClr val="D9DEE7"/>
            </a:solidFill>
            <a:prstDash val="solid"/>
          </a:ln>
        </p:spPr>
      </p:sp>
      <p:sp>
        <p:nvSpPr>
          <p:cNvPr id="10" name="Text 7"/>
          <p:cNvSpPr txBox="1"/>
          <p:nvPr/>
        </p:nvSpPr>
        <p:spPr>
          <a:xfrm>
            <a:off x="457200" y="3019806"/>
            <a:ext cx="2651760" cy="201168"/>
          </a:xfrm>
          <a:prstGeom prst="rect">
            <a:avLst/>
          </a:prstGeom>
          <a:noFill/>
          <a:ln/>
        </p:spPr>
        <p:txBody>
          <a:bodyPr wrap="square" lIns="0" tIns="0" rIns="0" bIns="0" rtlCol="0" anchor="ctr"/>
          <a:lstStyle/>
          <a:p>
            <a:pPr indent="0" marL="0">
              <a:buNone/>
            </a:pPr>
            <a:r>
              <a:rPr lang="en-US" sz="900" i="1" dirty="0">
                <a:solidFill>
                  <a:srgbClr val="56627A"/>
                </a:solidFill>
                <a:latin typeface="Calibri" pitchFamily="34" charset="0"/>
                <a:ea typeface="Calibri" pitchFamily="34" charset="-122"/>
                <a:cs typeface="Calibri" pitchFamily="34" charset="-120"/>
              </a:rPr>
              <a:t>1. Photo</a:t>
            </a:r>
            <a:endParaRPr lang="en-US" sz="900" dirty="0"/>
          </a:p>
        </p:txBody>
      </p:sp>
      <p:pic>
        <p:nvPicPr>
          <p:cNvPr id="11" name="Image 1" descr="/tmp/claude-0/work/demo/road_2_location.png">    </p:cNvPr>
          <p:cNvPicPr>
            <a:picLocks noChangeAspect="1"/>
          </p:cNvPicPr>
          <p:nvPr/>
        </p:nvPicPr>
        <p:blipFill>
          <a:blip r:embed="rId2"/>
          <a:stretch>
            <a:fillRect/>
          </a:stretch>
        </p:blipFill>
        <p:spPr>
          <a:xfrm>
            <a:off x="3246120" y="1325880"/>
            <a:ext cx="2651760" cy="1657350"/>
          </a:xfrm>
          <a:prstGeom prst="rect">
            <a:avLst/>
          </a:prstGeom>
        </p:spPr>
      </p:pic>
      <p:sp>
        <p:nvSpPr>
          <p:cNvPr id="12" name="Shape 8"/>
          <p:cNvSpPr/>
          <p:nvPr/>
        </p:nvSpPr>
        <p:spPr>
          <a:xfrm>
            <a:off x="3246120" y="1325880"/>
            <a:ext cx="2651760" cy="1657350"/>
          </a:xfrm>
          <a:prstGeom prst="rect">
            <a:avLst/>
          </a:prstGeom>
          <a:ln w="12700">
            <a:solidFill>
              <a:srgbClr val="D9DEE7"/>
            </a:solidFill>
            <a:prstDash val="solid"/>
          </a:ln>
        </p:spPr>
      </p:sp>
      <p:sp>
        <p:nvSpPr>
          <p:cNvPr id="13" name="Text 9"/>
          <p:cNvSpPr txBox="1"/>
          <p:nvPr/>
        </p:nvSpPr>
        <p:spPr>
          <a:xfrm>
            <a:off x="3246120" y="3019806"/>
            <a:ext cx="2651760" cy="201168"/>
          </a:xfrm>
          <a:prstGeom prst="rect">
            <a:avLst/>
          </a:prstGeom>
          <a:noFill/>
          <a:ln/>
        </p:spPr>
        <p:txBody>
          <a:bodyPr wrap="square" lIns="0" tIns="0" rIns="0" bIns="0" rtlCol="0" anchor="ctr"/>
          <a:lstStyle/>
          <a:p>
            <a:pPr indent="0" marL="0">
              <a:buNone/>
            </a:pPr>
            <a:r>
              <a:rPr lang="en-US" sz="900" i="1" dirty="0">
                <a:solidFill>
                  <a:srgbClr val="56627A"/>
                </a:solidFill>
                <a:latin typeface="Calibri" pitchFamily="34" charset="0"/>
                <a:ea typeface="Calibri" pitchFamily="34" charset="-122"/>
                <a:cs typeface="Calibri" pitchFamily="34" charset="-120"/>
              </a:rPr>
              <a:t>2. Location (GPS or map pin)</a:t>
            </a:r>
            <a:endParaRPr lang="en-US" sz="900" dirty="0"/>
          </a:p>
        </p:txBody>
      </p:sp>
      <p:pic>
        <p:nvPicPr>
          <p:cNvPr id="14" name="Image 2" descr="/tmp/claude-0/work/demo/road_3_details.png">    </p:cNvPr>
          <p:cNvPicPr>
            <a:picLocks noChangeAspect="1"/>
          </p:cNvPicPr>
          <p:nvPr/>
        </p:nvPicPr>
        <p:blipFill>
          <a:blip r:embed="rId3"/>
          <a:stretch>
            <a:fillRect/>
          </a:stretch>
        </p:blipFill>
        <p:spPr>
          <a:xfrm>
            <a:off x="6035040" y="1325880"/>
            <a:ext cx="2651760" cy="1657350"/>
          </a:xfrm>
          <a:prstGeom prst="rect">
            <a:avLst/>
          </a:prstGeom>
        </p:spPr>
      </p:pic>
      <p:sp>
        <p:nvSpPr>
          <p:cNvPr id="15" name="Shape 10"/>
          <p:cNvSpPr/>
          <p:nvPr/>
        </p:nvSpPr>
        <p:spPr>
          <a:xfrm>
            <a:off x="6035040" y="1325880"/>
            <a:ext cx="2651760" cy="1657350"/>
          </a:xfrm>
          <a:prstGeom prst="rect">
            <a:avLst/>
          </a:prstGeom>
          <a:ln w="12700">
            <a:solidFill>
              <a:srgbClr val="D9DEE7"/>
            </a:solidFill>
            <a:prstDash val="solid"/>
          </a:ln>
        </p:spPr>
      </p:sp>
      <p:sp>
        <p:nvSpPr>
          <p:cNvPr id="16" name="Text 11"/>
          <p:cNvSpPr txBox="1"/>
          <p:nvPr/>
        </p:nvSpPr>
        <p:spPr>
          <a:xfrm>
            <a:off x="6035040" y="3019806"/>
            <a:ext cx="2651760" cy="201168"/>
          </a:xfrm>
          <a:prstGeom prst="rect">
            <a:avLst/>
          </a:prstGeom>
          <a:noFill/>
          <a:ln/>
        </p:spPr>
        <p:txBody>
          <a:bodyPr wrap="square" lIns="0" tIns="0" rIns="0" bIns="0" rtlCol="0" anchor="ctr"/>
          <a:lstStyle/>
          <a:p>
            <a:pPr indent="0" marL="0">
              <a:buNone/>
            </a:pPr>
            <a:r>
              <a:rPr lang="en-US" sz="900" i="1" dirty="0">
                <a:solidFill>
                  <a:srgbClr val="56627A"/>
                </a:solidFill>
                <a:latin typeface="Calibri" pitchFamily="34" charset="0"/>
                <a:ea typeface="Calibri" pitchFamily="34" charset="-122"/>
                <a:cs typeface="Calibri" pitchFamily="34" charset="-120"/>
              </a:rPr>
              <a:t>3. Note by voice or text</a:t>
            </a:r>
            <a:endParaRPr lang="en-US" sz="900" dirty="0"/>
          </a:p>
        </p:txBody>
      </p:sp>
      <p:sp>
        <p:nvSpPr>
          <p:cNvPr id="17" name="Text 12"/>
          <p:cNvSpPr txBox="1"/>
          <p:nvPr/>
        </p:nvSpPr>
        <p:spPr>
          <a:xfrm>
            <a:off x="457200" y="3246120"/>
            <a:ext cx="8229600" cy="11887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72033"/>
                </a:solidFill>
                <a:latin typeface="Calibri" pitchFamily="34" charset="0"/>
                <a:ea typeface="Calibri" pitchFamily="34" charset="-122"/>
                <a:cs typeface="Calibri" pitchFamily="34" charset="-120"/>
              </a:rPr>
              <a:t>Works on a phone browser and installs as an app; Hindi and English across the whole interface</a:t>
            </a:r>
            <a:endParaRPr lang="en-US" sz="1300" dirty="0"/>
          </a:p>
          <a:p>
            <a:pPr marL="342900" indent="-342900">
              <a:spcAft>
                <a:spcPts val="600"/>
              </a:spcAft>
              <a:buSzPct val="100000"/>
              <a:buChar char="•"/>
            </a:pPr>
            <a:r>
              <a:rPr lang="en-US" sz="1300" dirty="0">
                <a:solidFill>
                  <a:srgbClr val="172033"/>
                </a:solidFill>
                <a:latin typeface="Calibri" pitchFamily="34" charset="0"/>
                <a:ea typeface="Calibri" pitchFamily="34" charset="-122"/>
                <a:cs typeface="Calibri" pitchFamily="34" charset="-120"/>
              </a:rPr>
              <a:t>Voice note in Hindi or Hinglish; guided tutor with spoken instructions for first-time users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07010"/>
          </a:solidFill>
          <a:ln w="12700">
            <a:solidFill>
              <a:srgbClr val="E07010"/>
            </a:solidFill>
            <a:prstDash val="solid"/>
          </a:ln>
        </p:spPr>
      </p:sp>
      <p:sp>
        <p:nvSpPr>
          <p:cNvPr id="3" name="Text 1"/>
          <p:cNvSpPr txBox="1"/>
          <p:nvPr/>
        </p:nvSpPr>
        <p:spPr>
          <a:xfrm>
            <a:off x="457200" y="201168"/>
            <a:ext cx="6400800" cy="228600"/>
          </a:xfrm>
          <a:prstGeom prst="rect">
            <a:avLst/>
          </a:prstGeom>
          <a:noFill/>
          <a:ln/>
        </p:spPr>
        <p:txBody>
          <a:bodyPr wrap="square" lIns="0" tIns="0" rIns="0" bIns="0" rtlCol="0" anchor="ctr"/>
          <a:lstStyle/>
          <a:p>
            <a:pPr indent="0" marL="0">
              <a:buNone/>
            </a:pPr>
            <a:r>
              <a:rPr lang="en-US" sz="1050" b="1" spc="200" kern="0" dirty="0">
                <a:solidFill>
                  <a:srgbClr val="E07010"/>
                </a:solidFill>
                <a:latin typeface="Calibri" pitchFamily="34" charset="0"/>
                <a:ea typeface="Calibri" pitchFamily="34" charset="-122"/>
                <a:cs typeface="Calibri" pitchFamily="34" charset="-120"/>
              </a:rPr>
              <a:t>REAL GEMINI RUN, RECORDED - CASE CS-1047</a:t>
            </a:r>
            <a:endParaRPr lang="en-US" sz="1050" dirty="0"/>
          </a:p>
        </p:txBody>
      </p:sp>
      <p:sp>
        <p:nvSpPr>
          <p:cNvPr id="4" name="Text 2"/>
          <p:cNvSpPr txBox="1"/>
          <p:nvPr/>
        </p:nvSpPr>
        <p:spPr>
          <a:xfrm>
            <a:off x="457200" y="429768"/>
            <a:ext cx="8229600" cy="685800"/>
          </a:xfrm>
          <a:prstGeom prst="rect">
            <a:avLst/>
          </a:prstGeom>
          <a:noFill/>
          <a:ln/>
        </p:spPr>
        <p:txBody>
          <a:bodyPr wrap="square" lIns="0" tIns="0" rIns="0" bIns="0" rtlCol="0" anchor="t"/>
          <a:lstStyle/>
          <a:p>
            <a:pPr indent="0" marL="0">
              <a:buNone/>
            </a:pPr>
            <a:r>
              <a:rPr lang="en-US" sz="2300" b="1" dirty="0">
                <a:solidFill>
                  <a:srgbClr val="153E7C"/>
                </a:solidFill>
                <a:latin typeface="Calibri" pitchFamily="34" charset="0"/>
                <a:ea typeface="Calibri" pitchFamily="34" charset="-122"/>
                <a:cs typeface="Calibri" pitchFamily="34" charset="-120"/>
              </a:rPr>
              <a:t>What the AI returns: category, evidence, score, department, letter</a:t>
            </a:r>
            <a:endParaRPr lang="en-US" sz="2300" dirty="0"/>
          </a:p>
        </p:txBody>
      </p:sp>
      <p:sp>
        <p:nvSpPr>
          <p:cNvPr id="5" name="Text 3"/>
          <p:cNvSpPr txBox="1"/>
          <p:nvPr/>
        </p:nvSpPr>
        <p:spPr>
          <a:xfrm>
            <a:off x="457200" y="4828032"/>
            <a:ext cx="4572000" cy="201168"/>
          </a:xfrm>
          <a:prstGeom prst="rect">
            <a:avLst/>
          </a:prstGeom>
          <a:noFill/>
          <a:ln/>
        </p:spPr>
        <p:txBody>
          <a:bodyPr wrap="square" lIns="0" tIns="0" rIns="0" bIns="0" rtlCol="0" anchor="ctr"/>
          <a:lstStyle/>
          <a:p>
            <a:pPr indent="0" marL="0">
              <a:buNone/>
            </a:pPr>
            <a:r>
              <a:rPr lang="en-US" sz="900" dirty="0">
                <a:solidFill>
                  <a:srgbClr val="56627A"/>
                </a:solidFill>
                <a:latin typeface="Calibri" pitchFamily="34" charset="0"/>
                <a:ea typeface="Calibri" pitchFamily="34" charset="-122"/>
                <a:cs typeface="Calibri" pitchFamily="34" charset="-120"/>
              </a:rPr>
              <a:t>Chaukas AI  |  Team Shivay</a:t>
            </a:r>
            <a:endParaRPr lang="en-US" sz="900" dirty="0"/>
          </a:p>
        </p:txBody>
      </p:sp>
      <p:sp>
        <p:nvSpPr>
          <p:cNvPr id="6" name="Text 4"/>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56627A"/>
                </a:solidFill>
                <a:latin typeface="Calibri" pitchFamily="34" charset="0"/>
                <a:ea typeface="Calibri" pitchFamily="34" charset="-122"/>
                <a:cs typeface="Calibri" pitchFamily="34" charset="-120"/>
              </a:rPr>
              <a:t>6</a:t>
            </a:r>
            <a:endParaRPr lang="en-US" sz="900" dirty="0"/>
          </a:p>
        </p:txBody>
      </p:sp>
      <p:sp>
        <p:nvSpPr>
          <p:cNvPr id="7" name="Text 5"/>
          <p:cNvSpPr txBox="1"/>
          <p:nvPr/>
        </p:nvSpPr>
        <p:spPr>
          <a:xfrm>
            <a:off x="5669280" y="201168"/>
            <a:ext cx="3017520" cy="228600"/>
          </a:xfrm>
          <a:prstGeom prst="rect">
            <a:avLst/>
          </a:prstGeom>
          <a:noFill/>
          <a:ln/>
        </p:spPr>
        <p:txBody>
          <a:bodyPr wrap="square" lIns="0" tIns="0" rIns="0" bIns="0" rtlCol="0" anchor="ctr"/>
          <a:lstStyle/>
          <a:p>
            <a:pPr algn="r" indent="0" marL="0">
              <a:buNone/>
            </a:pPr>
            <a:r>
              <a:rPr lang="en-US" sz="950" dirty="0">
                <a:solidFill>
                  <a:srgbClr val="56627A"/>
                </a:solidFill>
                <a:latin typeface="Calibri" pitchFamily="34" charset="0"/>
                <a:ea typeface="Calibri" pitchFamily="34" charset="-122"/>
                <a:cs typeface="Calibri" pitchFamily="34" charset="-120"/>
              </a:rPr>
              <a:t>Presents: Madhav</a:t>
            </a:r>
            <a:endParaRPr lang="en-US" sz="950" dirty="0"/>
          </a:p>
        </p:txBody>
      </p:sp>
      <p:pic>
        <p:nvPicPr>
          <p:cNvPr id="8" name="Image 0" descr="/tmp/claude-0/work/demo/road_5_result.png">    </p:cNvPr>
          <p:cNvPicPr>
            <a:picLocks noChangeAspect="1"/>
          </p:cNvPicPr>
          <p:nvPr/>
        </p:nvPicPr>
        <p:blipFill>
          <a:blip r:embed="rId1"/>
          <a:stretch>
            <a:fillRect/>
          </a:stretch>
        </p:blipFill>
        <p:spPr>
          <a:xfrm>
            <a:off x="457200" y="1280160"/>
            <a:ext cx="4754880" cy="2971800"/>
          </a:xfrm>
          <a:prstGeom prst="rect">
            <a:avLst/>
          </a:prstGeom>
        </p:spPr>
      </p:pic>
      <p:sp>
        <p:nvSpPr>
          <p:cNvPr id="9" name="Shape 6"/>
          <p:cNvSpPr/>
          <p:nvPr/>
        </p:nvSpPr>
        <p:spPr>
          <a:xfrm>
            <a:off x="457200" y="1280160"/>
            <a:ext cx="4754880" cy="2971800"/>
          </a:xfrm>
          <a:prstGeom prst="rect">
            <a:avLst/>
          </a:prstGeom>
          <a:ln w="12700">
            <a:solidFill>
              <a:srgbClr val="D9DEE7"/>
            </a:solidFill>
            <a:prstDash val="solid"/>
          </a:ln>
        </p:spPr>
      </p:sp>
      <p:sp>
        <p:nvSpPr>
          <p:cNvPr id="10" name="Text 7"/>
          <p:cNvSpPr txBox="1"/>
          <p:nvPr/>
        </p:nvSpPr>
        <p:spPr>
          <a:xfrm>
            <a:off x="457200" y="4288536"/>
            <a:ext cx="4754880" cy="201168"/>
          </a:xfrm>
          <a:prstGeom prst="rect">
            <a:avLst/>
          </a:prstGeom>
          <a:noFill/>
          <a:ln/>
        </p:spPr>
        <p:txBody>
          <a:bodyPr wrap="square" lIns="0" tIns="0" rIns="0" bIns="0" rtlCol="0" anchor="ctr"/>
          <a:lstStyle/>
          <a:p>
            <a:pPr indent="0" marL="0">
              <a:buNone/>
            </a:pPr>
            <a:r>
              <a:rPr lang="en-US" sz="900" i="1" dirty="0">
                <a:solidFill>
                  <a:srgbClr val="56627A"/>
                </a:solidFill>
                <a:latin typeface="Calibri" pitchFamily="34" charset="0"/>
                <a:ea typeface="Calibri" pitchFamily="34" charset="-122"/>
                <a:cs typeface="Calibri" pitchFamily="34" charset="-120"/>
              </a:rPr>
              <a:t>Result: confidence, visual evidence, severity gauge, routing</a:t>
            </a:r>
            <a:endParaRPr lang="en-US" sz="900" dirty="0"/>
          </a:p>
        </p:txBody>
      </p:sp>
      <p:pic>
        <p:nvPicPr>
          <p:cNvPr id="11" name="Image 1" descr="/tmp/claude-0/work/demo/road_7_letter.png">    </p:cNvPr>
          <p:cNvPicPr>
            <a:picLocks noChangeAspect="1"/>
          </p:cNvPicPr>
          <p:nvPr/>
        </p:nvPicPr>
        <p:blipFill>
          <a:blip r:embed="rId2"/>
          <a:stretch>
            <a:fillRect/>
          </a:stretch>
        </p:blipFill>
        <p:spPr>
          <a:xfrm>
            <a:off x="5394960" y="1280160"/>
            <a:ext cx="3291840" cy="2057400"/>
          </a:xfrm>
          <a:prstGeom prst="rect">
            <a:avLst/>
          </a:prstGeom>
        </p:spPr>
      </p:pic>
      <p:sp>
        <p:nvSpPr>
          <p:cNvPr id="12" name="Shape 8"/>
          <p:cNvSpPr/>
          <p:nvPr/>
        </p:nvSpPr>
        <p:spPr>
          <a:xfrm>
            <a:off x="5394960" y="1280160"/>
            <a:ext cx="3291840" cy="2057400"/>
          </a:xfrm>
          <a:prstGeom prst="rect">
            <a:avLst/>
          </a:prstGeom>
          <a:ln w="12700">
            <a:solidFill>
              <a:srgbClr val="D9DEE7"/>
            </a:solidFill>
            <a:prstDash val="solid"/>
          </a:ln>
        </p:spPr>
      </p:sp>
      <p:sp>
        <p:nvSpPr>
          <p:cNvPr id="13" name="Text 9"/>
          <p:cNvSpPr txBox="1"/>
          <p:nvPr/>
        </p:nvSpPr>
        <p:spPr>
          <a:xfrm>
            <a:off x="5394960" y="3374136"/>
            <a:ext cx="3291840" cy="201168"/>
          </a:xfrm>
          <a:prstGeom prst="rect">
            <a:avLst/>
          </a:prstGeom>
          <a:noFill/>
          <a:ln/>
        </p:spPr>
        <p:txBody>
          <a:bodyPr wrap="square" lIns="0" tIns="0" rIns="0" bIns="0" rtlCol="0" anchor="ctr"/>
          <a:lstStyle/>
          <a:p>
            <a:pPr indent="0" marL="0">
              <a:buNone/>
            </a:pPr>
            <a:r>
              <a:rPr lang="en-US" sz="900" i="1" dirty="0">
                <a:solidFill>
                  <a:srgbClr val="56627A"/>
                </a:solidFill>
                <a:latin typeface="Calibri" pitchFamily="34" charset="0"/>
                <a:ea typeface="Calibri" pitchFamily="34" charset="-122"/>
                <a:cs typeface="Calibri" pitchFamily="34" charset="-120"/>
              </a:rPr>
              <a:t>Auto-drafted letter; Hindi on one tap</a:t>
            </a:r>
            <a:endParaRPr lang="en-US" sz="900" dirty="0"/>
          </a:p>
        </p:txBody>
      </p:sp>
      <p:sp>
        <p:nvSpPr>
          <p:cNvPr id="14" name="Text 10"/>
          <p:cNvSpPr txBox="1"/>
          <p:nvPr/>
        </p:nvSpPr>
        <p:spPr>
          <a:xfrm>
            <a:off x="5394960" y="3657600"/>
            <a:ext cx="3291840" cy="1097280"/>
          </a:xfrm>
          <a:prstGeom prst="rect">
            <a:avLst/>
          </a:prstGeom>
          <a:noFill/>
          <a:ln/>
        </p:spPr>
        <p:txBody>
          <a:bodyPr wrap="square" lIns="0" tIns="0" rIns="0" bIns="0" rtlCol="0" anchor="t"/>
          <a:lstStyle/>
          <a:p>
            <a:pPr marL="342900" indent="-342900">
              <a:spcAft>
                <a:spcPts val="600"/>
              </a:spcAft>
              <a:buSzPct val="100000"/>
              <a:buChar char="•"/>
            </a:pPr>
            <a:r>
              <a:rPr lang="en-US" sz="1050" dirty="0">
                <a:solidFill>
                  <a:srgbClr val="172033"/>
                </a:solidFill>
                <a:latin typeface="Calibri" pitchFamily="34" charset="0"/>
                <a:ea typeface="Calibri" pitchFamily="34" charset="-122"/>
                <a:cs typeface="Calibri" pitchFamily="34" charset="-120"/>
              </a:rPr>
              <a:t>Evidence in the model's own words: "large deep crater", "cracks spreading from collapsed asphalt"</a:t>
            </a:r>
            <a:endParaRPr lang="en-US" sz="1050" dirty="0"/>
          </a:p>
          <a:p>
            <a:pPr marL="342900" indent="-342900">
              <a:spcAft>
                <a:spcPts val="600"/>
              </a:spcAft>
              <a:buSzPct val="100000"/>
              <a:buChar char="•"/>
            </a:pPr>
            <a:r>
              <a:rPr lang="en-US" sz="1050" dirty="0">
                <a:solidFill>
                  <a:srgbClr val="172033"/>
                </a:solidFill>
                <a:latin typeface="Calibri" pitchFamily="34" charset="0"/>
                <a:ea typeface="Calibri" pitchFamily="34" charset="-122"/>
                <a:cs typeface="Calibri" pitchFamily="34" charset="-120"/>
              </a:rPr>
              <a:t>AI score 8 + school within 200 m (+2) + safety words (+1) = 10, Critical; routed to PWD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07010"/>
          </a:solidFill>
          <a:ln w="12700">
            <a:solidFill>
              <a:srgbClr val="E07010"/>
            </a:solidFill>
            <a:prstDash val="solid"/>
          </a:ln>
        </p:spPr>
      </p:sp>
      <p:sp>
        <p:nvSpPr>
          <p:cNvPr id="3" name="Text 1"/>
          <p:cNvSpPr txBox="1"/>
          <p:nvPr/>
        </p:nvSpPr>
        <p:spPr>
          <a:xfrm>
            <a:off x="457200" y="201168"/>
            <a:ext cx="6400800" cy="228600"/>
          </a:xfrm>
          <a:prstGeom prst="rect">
            <a:avLst/>
          </a:prstGeom>
          <a:noFill/>
          <a:ln/>
        </p:spPr>
        <p:txBody>
          <a:bodyPr wrap="square" lIns="0" tIns="0" rIns="0" bIns="0" rtlCol="0" anchor="ctr"/>
          <a:lstStyle/>
          <a:p>
            <a:pPr indent="0" marL="0">
              <a:buNone/>
            </a:pPr>
            <a:r>
              <a:rPr lang="en-US" sz="1050" b="1" spc="200" kern="0" dirty="0">
                <a:solidFill>
                  <a:srgbClr val="E07010"/>
                </a:solidFill>
                <a:latin typeface="Calibri" pitchFamily="34" charset="0"/>
                <a:ea typeface="Calibri" pitchFamily="34" charset="-122"/>
                <a:cs typeface="Calibri" pitchFamily="34" charset="-120"/>
              </a:rPr>
              <a:t>PRIORITY ENGINE</a:t>
            </a:r>
            <a:endParaRPr lang="en-US" sz="1050" dirty="0"/>
          </a:p>
        </p:txBody>
      </p:sp>
      <p:sp>
        <p:nvSpPr>
          <p:cNvPr id="4" name="Text 2"/>
          <p:cNvSpPr txBox="1"/>
          <p:nvPr/>
        </p:nvSpPr>
        <p:spPr>
          <a:xfrm>
            <a:off x="457200" y="429768"/>
            <a:ext cx="8229600" cy="685800"/>
          </a:xfrm>
          <a:prstGeom prst="rect">
            <a:avLst/>
          </a:prstGeom>
          <a:noFill/>
          <a:ln/>
        </p:spPr>
        <p:txBody>
          <a:bodyPr wrap="square" lIns="0" tIns="0" rIns="0" bIns="0" rtlCol="0" anchor="t"/>
          <a:lstStyle/>
          <a:p>
            <a:pPr indent="0" marL="0">
              <a:buNone/>
            </a:pPr>
            <a:r>
              <a:rPr lang="en-US" sz="2300" b="1" dirty="0">
                <a:solidFill>
                  <a:srgbClr val="153E7C"/>
                </a:solidFill>
                <a:latin typeface="Calibri" pitchFamily="34" charset="0"/>
                <a:ea typeface="Calibri" pitchFamily="34" charset="-122"/>
                <a:cs typeface="Calibri" pitchFamily="34" charset="-120"/>
              </a:rPr>
              <a:t>Severity is explainable: the photo is only the starting point</a:t>
            </a:r>
            <a:endParaRPr lang="en-US" sz="2300" dirty="0"/>
          </a:p>
        </p:txBody>
      </p:sp>
      <p:sp>
        <p:nvSpPr>
          <p:cNvPr id="5" name="Text 3"/>
          <p:cNvSpPr txBox="1"/>
          <p:nvPr/>
        </p:nvSpPr>
        <p:spPr>
          <a:xfrm>
            <a:off x="457200" y="4828032"/>
            <a:ext cx="4572000" cy="201168"/>
          </a:xfrm>
          <a:prstGeom prst="rect">
            <a:avLst/>
          </a:prstGeom>
          <a:noFill/>
          <a:ln/>
        </p:spPr>
        <p:txBody>
          <a:bodyPr wrap="square" lIns="0" tIns="0" rIns="0" bIns="0" rtlCol="0" anchor="ctr"/>
          <a:lstStyle/>
          <a:p>
            <a:pPr indent="0" marL="0">
              <a:buNone/>
            </a:pPr>
            <a:r>
              <a:rPr lang="en-US" sz="900" dirty="0">
                <a:solidFill>
                  <a:srgbClr val="56627A"/>
                </a:solidFill>
                <a:latin typeface="Calibri" pitchFamily="34" charset="0"/>
                <a:ea typeface="Calibri" pitchFamily="34" charset="-122"/>
                <a:cs typeface="Calibri" pitchFamily="34" charset="-120"/>
              </a:rPr>
              <a:t>Chaukas AI  |  Team Shivay</a:t>
            </a:r>
            <a:endParaRPr lang="en-US" sz="900" dirty="0"/>
          </a:p>
        </p:txBody>
      </p:sp>
      <p:sp>
        <p:nvSpPr>
          <p:cNvPr id="6" name="Text 4"/>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56627A"/>
                </a:solidFill>
                <a:latin typeface="Calibri" pitchFamily="34" charset="0"/>
                <a:ea typeface="Calibri" pitchFamily="34" charset="-122"/>
                <a:cs typeface="Calibri" pitchFamily="34" charset="-120"/>
              </a:rPr>
              <a:t>7</a:t>
            </a:r>
            <a:endParaRPr lang="en-US" sz="900" dirty="0"/>
          </a:p>
        </p:txBody>
      </p:sp>
      <p:sp>
        <p:nvSpPr>
          <p:cNvPr id="7" name="Text 5"/>
          <p:cNvSpPr txBox="1"/>
          <p:nvPr/>
        </p:nvSpPr>
        <p:spPr>
          <a:xfrm>
            <a:off x="5669280" y="201168"/>
            <a:ext cx="3017520" cy="228600"/>
          </a:xfrm>
          <a:prstGeom prst="rect">
            <a:avLst/>
          </a:prstGeom>
          <a:noFill/>
          <a:ln/>
        </p:spPr>
        <p:txBody>
          <a:bodyPr wrap="square" lIns="0" tIns="0" rIns="0" bIns="0" rtlCol="0" anchor="ctr"/>
          <a:lstStyle/>
          <a:p>
            <a:pPr algn="r" indent="0" marL="0">
              <a:buNone/>
            </a:pPr>
            <a:r>
              <a:rPr lang="en-US" sz="950" dirty="0">
                <a:solidFill>
                  <a:srgbClr val="56627A"/>
                </a:solidFill>
                <a:latin typeface="Calibri" pitchFamily="34" charset="0"/>
                <a:ea typeface="Calibri" pitchFamily="34" charset="-122"/>
                <a:cs typeface="Calibri" pitchFamily="34" charset="-120"/>
              </a:rPr>
              <a:t>Presents: Abhishek</a:t>
            </a:r>
            <a:endParaRPr lang="en-US" sz="9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5120640" cy="914400"/>
        </p:xfrm>
        <a:graphic>
          <a:graphicData uri="http://schemas.openxmlformats.org/drawingml/2006/table">
            <a:tbl>
              <a:tblPr/>
              <a:tblGrid>
                <a:gridCol w="2194560"/>
                <a:gridCol w="1463040"/>
                <a:gridCol w="1463040"/>
              </a:tblGrid>
              <a:tr h="38404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Signal</a:t>
                      </a:r>
                      <a:endParaRPr lang="en-US" sz="11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53E7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Effect</a:t>
                      </a:r>
                      <a:endParaRPr lang="en-US" sz="11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53E7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Source</a:t>
                      </a:r>
                      <a:endParaRPr lang="en-US" sz="11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53E7C"/>
                    </a:solidFill>
                  </a:tcPr>
                </a:tc>
              </a:tr>
              <a:tr h="384048">
                <a:tc>
                  <a:txBody>
                    <a:bodyPr/>
                    <a:lstStyle/>
                    <a:p>
                      <a:pPr indent="0" marL="0">
                        <a:buNone/>
                      </a:pPr>
                      <a:r>
                        <a:rPr lang="en-US" sz="1100" dirty="0">
                          <a:solidFill>
                            <a:srgbClr val="172033"/>
                          </a:solidFill>
                          <a:latin typeface="Calibri" pitchFamily="34" charset="0"/>
                          <a:ea typeface="Calibri" pitchFamily="34" charset="-122"/>
                          <a:cs typeface="Calibri" pitchFamily="34" charset="-120"/>
                        </a:rPr>
                        <a:t>AI damage score from photo</a:t>
                      </a:r>
                      <a:endParaRPr lang="en-US" sz="11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72033"/>
                          </a:solidFill>
                          <a:latin typeface="Calibri" pitchFamily="34" charset="0"/>
                          <a:ea typeface="Calibri" pitchFamily="34" charset="-122"/>
                          <a:cs typeface="Calibri" pitchFamily="34" charset="-120"/>
                        </a:rPr>
                        <a:t>0 to 10 (extent and safety risk)</a:t>
                      </a:r>
                      <a:endParaRPr lang="en-US" sz="11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72033"/>
                          </a:solidFill>
                          <a:latin typeface="Calibri" pitchFamily="34" charset="0"/>
                          <a:ea typeface="Calibri" pitchFamily="34" charset="-122"/>
                          <a:cs typeface="Calibri" pitchFamily="34" charset="-120"/>
                        </a:rPr>
                        <a:t>Gemini vision</a:t>
                      </a:r>
                      <a:endParaRPr lang="en-US" sz="11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72033"/>
                          </a:solidFill>
                          <a:latin typeface="Calibri" pitchFamily="34" charset="0"/>
                          <a:ea typeface="Calibri" pitchFamily="34" charset="-122"/>
                          <a:cs typeface="Calibri" pitchFamily="34" charset="-120"/>
                        </a:rPr>
                        <a:t>School or hospital within 200 m</a:t>
                      </a:r>
                      <a:endParaRPr lang="en-US" sz="11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72033"/>
                          </a:solidFill>
                          <a:latin typeface="Calibri" pitchFamily="34" charset="0"/>
                          <a:ea typeface="Calibri" pitchFamily="34" charset="-122"/>
                          <a:cs typeface="Calibri" pitchFamily="34" charset="-120"/>
                        </a:rPr>
                        <a:t>+2</a:t>
                      </a:r>
                      <a:endParaRPr lang="en-US" sz="11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72033"/>
                          </a:solidFill>
                          <a:latin typeface="Calibri" pitchFamily="34" charset="0"/>
                          <a:ea typeface="Calibri" pitchFamily="34" charset="-122"/>
                          <a:cs typeface="Calibri" pitchFamily="34" charset="-120"/>
                        </a:rPr>
                        <a:t>OpenStreetMap, fallback to citizen note</a:t>
                      </a:r>
                      <a:endParaRPr lang="en-US" sz="11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72033"/>
                          </a:solidFill>
                          <a:latin typeface="Calibri" pitchFamily="34" charset="0"/>
                          <a:ea typeface="Calibri" pitchFamily="34" charset="-122"/>
                          <a:cs typeface="Calibri" pitchFamily="34" charset="-120"/>
                        </a:rPr>
                        <a:t>Repeat reports within 50 m</a:t>
                      </a:r>
                      <a:endParaRPr lang="en-US" sz="11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72033"/>
                          </a:solidFill>
                          <a:latin typeface="Calibri" pitchFamily="34" charset="0"/>
                          <a:ea typeface="Calibri" pitchFamily="34" charset="-122"/>
                          <a:cs typeface="Calibri" pitchFamily="34" charset="-120"/>
                        </a:rPr>
                        <a:t>+1 for 2-3, +2 for 4+</a:t>
                      </a:r>
                      <a:endParaRPr lang="en-US" sz="11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72033"/>
                          </a:solidFill>
                          <a:latin typeface="Calibri" pitchFamily="34" charset="0"/>
                          <a:ea typeface="Calibri" pitchFamily="34" charset="-122"/>
                          <a:cs typeface="Calibri" pitchFamily="34" charset="-120"/>
                        </a:rPr>
                        <a:t>Our database</a:t>
                      </a:r>
                      <a:endParaRPr lang="en-US" sz="11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72033"/>
                          </a:solidFill>
                          <a:latin typeface="Calibri" pitchFamily="34" charset="0"/>
                          <a:ea typeface="Calibri" pitchFamily="34" charset="-122"/>
                          <a:cs typeface="Calibri" pitchFamily="34" charset="-120"/>
                        </a:rPr>
                        <a:t>Main road</a:t>
                      </a:r>
                      <a:endParaRPr lang="en-US" sz="11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72033"/>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72033"/>
                          </a:solidFill>
                          <a:latin typeface="Calibri" pitchFamily="34" charset="0"/>
                          <a:ea typeface="Calibri" pitchFamily="34" charset="-122"/>
                          <a:cs typeface="Calibri" pitchFamily="34" charset="-120"/>
                        </a:rPr>
                        <a:t>OpenStreetMap</a:t>
                      </a:r>
                      <a:endParaRPr lang="en-US" sz="11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72033"/>
                          </a:solidFill>
                          <a:latin typeface="Calibri" pitchFamily="34" charset="0"/>
                          <a:ea typeface="Calibri" pitchFamily="34" charset="-122"/>
                          <a:cs typeface="Calibri" pitchFamily="34" charset="-120"/>
                        </a:rPr>
                        <a:t>Safety words in note</a:t>
                      </a:r>
                      <a:endParaRPr lang="en-US" sz="11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72033"/>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72033"/>
                          </a:solidFill>
                          <a:latin typeface="Calibri" pitchFamily="34" charset="0"/>
                          <a:ea typeface="Calibri" pitchFamily="34" charset="-122"/>
                          <a:cs typeface="Calibri" pitchFamily="34" charset="-120"/>
                        </a:rPr>
                        <a:t>Hindi/English keyword match</a:t>
                      </a:r>
                      <a:endParaRPr lang="en-US" sz="11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384048">
                <a:tc>
                  <a:txBody>
                    <a:bodyPr/>
                    <a:lstStyle/>
                    <a:p>
                      <a:pPr indent="0" marL="0">
                        <a:buNone/>
                      </a:pPr>
                      <a:r>
                        <a:rPr lang="en-US" sz="1100" dirty="0">
                          <a:solidFill>
                            <a:srgbClr val="172033"/>
                          </a:solidFill>
                          <a:latin typeface="Calibri" pitchFamily="34" charset="0"/>
                          <a:ea typeface="Calibri" pitchFamily="34" charset="-122"/>
                          <a:cs typeface="Calibri" pitchFamily="34" charset="-120"/>
                        </a:rPr>
                        <a:t>Open manhole or live wire</a:t>
                      </a:r>
                      <a:endParaRPr lang="en-US" sz="11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72033"/>
                          </a:solidFill>
                          <a:latin typeface="Calibri" pitchFamily="34" charset="0"/>
                          <a:ea typeface="Calibri" pitchFamily="34" charset="-122"/>
                          <a:cs typeface="Calibri" pitchFamily="34" charset="-120"/>
                        </a:rPr>
                        <a:t>Always 10</a:t>
                      </a:r>
                      <a:endParaRPr lang="en-US" sz="11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100" dirty="0">
                          <a:solidFill>
                            <a:srgbClr val="172033"/>
                          </a:solidFill>
                          <a:latin typeface="Calibri" pitchFamily="34" charset="0"/>
                          <a:ea typeface="Calibri" pitchFamily="34" charset="-122"/>
                          <a:cs typeface="Calibri" pitchFamily="34" charset="-120"/>
                        </a:rPr>
                        <a:t>AI hazard flag or note</a:t>
                      </a:r>
                      <a:endParaRPr lang="en-US" sz="11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bl>
          </a:graphicData>
        </a:graphic>
      </p:graphicFrame>
      <p:sp>
        <p:nvSpPr>
          <p:cNvPr id="9" name="Shape 6"/>
          <p:cNvSpPr/>
          <p:nvPr/>
        </p:nvSpPr>
        <p:spPr>
          <a:xfrm>
            <a:off x="5852160" y="1280160"/>
            <a:ext cx="2834640" cy="2651760"/>
          </a:xfrm>
          <a:prstGeom prst="rect">
            <a:avLst/>
          </a:prstGeom>
          <a:solidFill>
            <a:srgbClr val="FFFFFF"/>
          </a:solidFill>
          <a:ln w="9525">
            <a:solidFill>
              <a:srgbClr val="D9DEE7"/>
            </a:solidFill>
            <a:prstDash val="solid"/>
          </a:ln>
        </p:spPr>
      </p:sp>
      <p:sp>
        <p:nvSpPr>
          <p:cNvPr id="10" name="Text 7"/>
          <p:cNvSpPr txBox="1"/>
          <p:nvPr/>
        </p:nvSpPr>
        <p:spPr>
          <a:xfrm>
            <a:off x="6035040" y="1371600"/>
            <a:ext cx="2468880" cy="274320"/>
          </a:xfrm>
          <a:prstGeom prst="rect">
            <a:avLst/>
          </a:prstGeom>
          <a:noFill/>
          <a:ln/>
        </p:spPr>
        <p:txBody>
          <a:bodyPr wrap="square" lIns="0" tIns="0" rIns="0" bIns="0" rtlCol="0" anchor="ctr"/>
          <a:lstStyle/>
          <a:p>
            <a:pPr indent="0" marL="0">
              <a:buNone/>
            </a:pPr>
            <a:r>
              <a:rPr lang="en-US" sz="1300" b="1" dirty="0">
                <a:solidFill>
                  <a:srgbClr val="153E7C"/>
                </a:solidFill>
                <a:latin typeface="Calibri" pitchFamily="34" charset="0"/>
                <a:ea typeface="Calibri" pitchFamily="34" charset="-122"/>
                <a:cs typeface="Calibri" pitchFamily="34" charset="-120"/>
              </a:rPr>
              <a:t>Bands</a:t>
            </a:r>
            <a:endParaRPr lang="en-US" sz="1300" dirty="0"/>
          </a:p>
        </p:txBody>
      </p:sp>
      <p:sp>
        <p:nvSpPr>
          <p:cNvPr id="11" name="Shape 8"/>
          <p:cNvSpPr/>
          <p:nvPr/>
        </p:nvSpPr>
        <p:spPr>
          <a:xfrm>
            <a:off x="6035040" y="1783080"/>
            <a:ext cx="164592" cy="310896"/>
          </a:xfrm>
          <a:prstGeom prst="rect">
            <a:avLst/>
          </a:prstGeom>
          <a:solidFill>
            <a:srgbClr val="B42318"/>
          </a:solidFill>
          <a:ln w="12700">
            <a:solidFill>
              <a:srgbClr val="B42318"/>
            </a:solidFill>
            <a:prstDash val="solid"/>
          </a:ln>
        </p:spPr>
      </p:sp>
      <p:sp>
        <p:nvSpPr>
          <p:cNvPr id="12" name="Text 9"/>
          <p:cNvSpPr txBox="1"/>
          <p:nvPr/>
        </p:nvSpPr>
        <p:spPr>
          <a:xfrm>
            <a:off x="6309360" y="1783080"/>
            <a:ext cx="1280160" cy="310896"/>
          </a:xfrm>
          <a:prstGeom prst="rect">
            <a:avLst/>
          </a:prstGeom>
          <a:noFill/>
          <a:ln/>
        </p:spPr>
        <p:txBody>
          <a:bodyPr wrap="square" lIns="0" tIns="0" rIns="0" bIns="0" rtlCol="0" anchor="ctr"/>
          <a:lstStyle/>
          <a:p>
            <a:pPr indent="0" marL="0">
              <a:buNone/>
            </a:pPr>
            <a:r>
              <a:rPr lang="en-US" sz="1300" b="1" dirty="0">
                <a:solidFill>
                  <a:srgbClr val="172033"/>
                </a:solidFill>
                <a:latin typeface="Calibri" pitchFamily="34" charset="0"/>
                <a:ea typeface="Calibri" pitchFamily="34" charset="-122"/>
                <a:cs typeface="Calibri" pitchFamily="34" charset="-120"/>
              </a:rPr>
              <a:t>Critical</a:t>
            </a:r>
            <a:endParaRPr lang="en-US" sz="1300" dirty="0"/>
          </a:p>
        </p:txBody>
      </p:sp>
      <p:sp>
        <p:nvSpPr>
          <p:cNvPr id="13" name="Text 10"/>
          <p:cNvSpPr txBox="1"/>
          <p:nvPr/>
        </p:nvSpPr>
        <p:spPr>
          <a:xfrm>
            <a:off x="7589520" y="1783080"/>
            <a:ext cx="914400" cy="310896"/>
          </a:xfrm>
          <a:prstGeom prst="rect">
            <a:avLst/>
          </a:prstGeom>
          <a:noFill/>
          <a:ln/>
        </p:spPr>
        <p:txBody>
          <a:bodyPr wrap="square" lIns="0" tIns="0" rIns="0" bIns="0" rtlCol="0" anchor="ctr"/>
          <a:lstStyle/>
          <a:p>
            <a:pPr algn="r" indent="0" marL="0">
              <a:buNone/>
            </a:pPr>
            <a:r>
              <a:rPr lang="en-US" sz="1300" dirty="0">
                <a:solidFill>
                  <a:srgbClr val="56627A"/>
                </a:solidFill>
                <a:latin typeface="Calibri" pitchFamily="34" charset="0"/>
                <a:ea typeface="Calibri" pitchFamily="34" charset="-122"/>
                <a:cs typeface="Calibri" pitchFamily="34" charset="-120"/>
              </a:rPr>
              <a:t>9-10</a:t>
            </a:r>
            <a:endParaRPr lang="en-US" sz="1300" dirty="0"/>
          </a:p>
        </p:txBody>
      </p:sp>
      <p:sp>
        <p:nvSpPr>
          <p:cNvPr id="14" name="Shape 11"/>
          <p:cNvSpPr/>
          <p:nvPr/>
        </p:nvSpPr>
        <p:spPr>
          <a:xfrm>
            <a:off x="6035040" y="2240280"/>
            <a:ext cx="164592" cy="310896"/>
          </a:xfrm>
          <a:prstGeom prst="rect">
            <a:avLst/>
          </a:prstGeom>
          <a:solidFill>
            <a:srgbClr val="D9631A"/>
          </a:solidFill>
          <a:ln w="12700">
            <a:solidFill>
              <a:srgbClr val="D9631A"/>
            </a:solidFill>
            <a:prstDash val="solid"/>
          </a:ln>
        </p:spPr>
      </p:sp>
      <p:sp>
        <p:nvSpPr>
          <p:cNvPr id="15" name="Text 12"/>
          <p:cNvSpPr txBox="1"/>
          <p:nvPr/>
        </p:nvSpPr>
        <p:spPr>
          <a:xfrm>
            <a:off x="6309360" y="2240280"/>
            <a:ext cx="1280160" cy="310896"/>
          </a:xfrm>
          <a:prstGeom prst="rect">
            <a:avLst/>
          </a:prstGeom>
          <a:noFill/>
          <a:ln/>
        </p:spPr>
        <p:txBody>
          <a:bodyPr wrap="square" lIns="0" tIns="0" rIns="0" bIns="0" rtlCol="0" anchor="ctr"/>
          <a:lstStyle/>
          <a:p>
            <a:pPr indent="0" marL="0">
              <a:buNone/>
            </a:pPr>
            <a:r>
              <a:rPr lang="en-US" sz="1300" b="1" dirty="0">
                <a:solidFill>
                  <a:srgbClr val="172033"/>
                </a:solidFill>
                <a:latin typeface="Calibri" pitchFamily="34" charset="0"/>
                <a:ea typeface="Calibri" pitchFamily="34" charset="-122"/>
                <a:cs typeface="Calibri" pitchFamily="34" charset="-120"/>
              </a:rPr>
              <a:t>High</a:t>
            </a:r>
            <a:endParaRPr lang="en-US" sz="1300" dirty="0"/>
          </a:p>
        </p:txBody>
      </p:sp>
      <p:sp>
        <p:nvSpPr>
          <p:cNvPr id="16" name="Text 13"/>
          <p:cNvSpPr txBox="1"/>
          <p:nvPr/>
        </p:nvSpPr>
        <p:spPr>
          <a:xfrm>
            <a:off x="7589520" y="2240280"/>
            <a:ext cx="914400" cy="310896"/>
          </a:xfrm>
          <a:prstGeom prst="rect">
            <a:avLst/>
          </a:prstGeom>
          <a:noFill/>
          <a:ln/>
        </p:spPr>
        <p:txBody>
          <a:bodyPr wrap="square" lIns="0" tIns="0" rIns="0" bIns="0" rtlCol="0" anchor="ctr"/>
          <a:lstStyle/>
          <a:p>
            <a:pPr algn="r" indent="0" marL="0">
              <a:buNone/>
            </a:pPr>
            <a:r>
              <a:rPr lang="en-US" sz="1300" dirty="0">
                <a:solidFill>
                  <a:srgbClr val="56627A"/>
                </a:solidFill>
                <a:latin typeface="Calibri" pitchFamily="34" charset="0"/>
                <a:ea typeface="Calibri" pitchFamily="34" charset="-122"/>
                <a:cs typeface="Calibri" pitchFamily="34" charset="-120"/>
              </a:rPr>
              <a:t>7-8</a:t>
            </a:r>
            <a:endParaRPr lang="en-US" sz="1300" dirty="0"/>
          </a:p>
        </p:txBody>
      </p:sp>
      <p:sp>
        <p:nvSpPr>
          <p:cNvPr id="17" name="Shape 14"/>
          <p:cNvSpPr/>
          <p:nvPr/>
        </p:nvSpPr>
        <p:spPr>
          <a:xfrm>
            <a:off x="6035040" y="2697480"/>
            <a:ext cx="164592" cy="310896"/>
          </a:xfrm>
          <a:prstGeom prst="rect">
            <a:avLst/>
          </a:prstGeom>
          <a:solidFill>
            <a:srgbClr val="B7791F"/>
          </a:solidFill>
          <a:ln w="12700">
            <a:solidFill>
              <a:srgbClr val="B7791F"/>
            </a:solidFill>
            <a:prstDash val="solid"/>
          </a:ln>
        </p:spPr>
      </p:sp>
      <p:sp>
        <p:nvSpPr>
          <p:cNvPr id="18" name="Text 15"/>
          <p:cNvSpPr txBox="1"/>
          <p:nvPr/>
        </p:nvSpPr>
        <p:spPr>
          <a:xfrm>
            <a:off x="6309360" y="2697480"/>
            <a:ext cx="1280160" cy="310896"/>
          </a:xfrm>
          <a:prstGeom prst="rect">
            <a:avLst/>
          </a:prstGeom>
          <a:noFill/>
          <a:ln/>
        </p:spPr>
        <p:txBody>
          <a:bodyPr wrap="square" lIns="0" tIns="0" rIns="0" bIns="0" rtlCol="0" anchor="ctr"/>
          <a:lstStyle/>
          <a:p>
            <a:pPr indent="0" marL="0">
              <a:buNone/>
            </a:pPr>
            <a:r>
              <a:rPr lang="en-US" sz="1300" b="1" dirty="0">
                <a:solidFill>
                  <a:srgbClr val="172033"/>
                </a:solidFill>
                <a:latin typeface="Calibri" pitchFamily="34" charset="0"/>
                <a:ea typeface="Calibri" pitchFamily="34" charset="-122"/>
                <a:cs typeface="Calibri" pitchFamily="34" charset="-120"/>
              </a:rPr>
              <a:t>Medium</a:t>
            </a:r>
            <a:endParaRPr lang="en-US" sz="1300" dirty="0"/>
          </a:p>
        </p:txBody>
      </p:sp>
      <p:sp>
        <p:nvSpPr>
          <p:cNvPr id="19" name="Text 16"/>
          <p:cNvSpPr txBox="1"/>
          <p:nvPr/>
        </p:nvSpPr>
        <p:spPr>
          <a:xfrm>
            <a:off x="7589520" y="2697480"/>
            <a:ext cx="914400" cy="310896"/>
          </a:xfrm>
          <a:prstGeom prst="rect">
            <a:avLst/>
          </a:prstGeom>
          <a:noFill/>
          <a:ln/>
        </p:spPr>
        <p:txBody>
          <a:bodyPr wrap="square" lIns="0" tIns="0" rIns="0" bIns="0" rtlCol="0" anchor="ctr"/>
          <a:lstStyle/>
          <a:p>
            <a:pPr algn="r" indent="0" marL="0">
              <a:buNone/>
            </a:pPr>
            <a:r>
              <a:rPr lang="en-US" sz="1300" dirty="0">
                <a:solidFill>
                  <a:srgbClr val="56627A"/>
                </a:solidFill>
                <a:latin typeface="Calibri" pitchFamily="34" charset="0"/>
                <a:ea typeface="Calibri" pitchFamily="34" charset="-122"/>
                <a:cs typeface="Calibri" pitchFamily="34" charset="-120"/>
              </a:rPr>
              <a:t>4-6</a:t>
            </a:r>
            <a:endParaRPr lang="en-US" sz="1300" dirty="0"/>
          </a:p>
        </p:txBody>
      </p:sp>
      <p:sp>
        <p:nvSpPr>
          <p:cNvPr id="20" name="Shape 17"/>
          <p:cNvSpPr/>
          <p:nvPr/>
        </p:nvSpPr>
        <p:spPr>
          <a:xfrm>
            <a:off x="6035040" y="3154680"/>
            <a:ext cx="164592" cy="310896"/>
          </a:xfrm>
          <a:prstGeom prst="rect">
            <a:avLst/>
          </a:prstGeom>
          <a:solidFill>
            <a:srgbClr val="138808"/>
          </a:solidFill>
          <a:ln w="12700">
            <a:solidFill>
              <a:srgbClr val="138808"/>
            </a:solidFill>
            <a:prstDash val="solid"/>
          </a:ln>
        </p:spPr>
      </p:sp>
      <p:sp>
        <p:nvSpPr>
          <p:cNvPr id="21" name="Text 18"/>
          <p:cNvSpPr txBox="1"/>
          <p:nvPr/>
        </p:nvSpPr>
        <p:spPr>
          <a:xfrm>
            <a:off x="6309360" y="3154680"/>
            <a:ext cx="1280160" cy="310896"/>
          </a:xfrm>
          <a:prstGeom prst="rect">
            <a:avLst/>
          </a:prstGeom>
          <a:noFill/>
          <a:ln/>
        </p:spPr>
        <p:txBody>
          <a:bodyPr wrap="square" lIns="0" tIns="0" rIns="0" bIns="0" rtlCol="0" anchor="ctr"/>
          <a:lstStyle/>
          <a:p>
            <a:pPr indent="0" marL="0">
              <a:buNone/>
            </a:pPr>
            <a:r>
              <a:rPr lang="en-US" sz="1300" b="1" dirty="0">
                <a:solidFill>
                  <a:srgbClr val="172033"/>
                </a:solidFill>
                <a:latin typeface="Calibri" pitchFamily="34" charset="0"/>
                <a:ea typeface="Calibri" pitchFamily="34" charset="-122"/>
                <a:cs typeface="Calibri" pitchFamily="34" charset="-120"/>
              </a:rPr>
              <a:t>Low</a:t>
            </a:r>
            <a:endParaRPr lang="en-US" sz="1300" dirty="0"/>
          </a:p>
        </p:txBody>
      </p:sp>
      <p:sp>
        <p:nvSpPr>
          <p:cNvPr id="22" name="Text 19"/>
          <p:cNvSpPr txBox="1"/>
          <p:nvPr/>
        </p:nvSpPr>
        <p:spPr>
          <a:xfrm>
            <a:off x="7589520" y="3154680"/>
            <a:ext cx="914400" cy="310896"/>
          </a:xfrm>
          <a:prstGeom prst="rect">
            <a:avLst/>
          </a:prstGeom>
          <a:noFill/>
          <a:ln/>
        </p:spPr>
        <p:txBody>
          <a:bodyPr wrap="square" lIns="0" tIns="0" rIns="0" bIns="0" rtlCol="0" anchor="ctr"/>
          <a:lstStyle/>
          <a:p>
            <a:pPr algn="r" indent="0" marL="0">
              <a:buNone/>
            </a:pPr>
            <a:r>
              <a:rPr lang="en-US" sz="1300" dirty="0">
                <a:solidFill>
                  <a:srgbClr val="56627A"/>
                </a:solidFill>
                <a:latin typeface="Calibri" pitchFamily="34" charset="0"/>
                <a:ea typeface="Calibri" pitchFamily="34" charset="-122"/>
                <a:cs typeface="Calibri" pitchFamily="34" charset="-120"/>
              </a:rPr>
              <a:t>0-3</a:t>
            </a:r>
            <a:endParaRPr lang="en-US" sz="1300" dirty="0"/>
          </a:p>
        </p:txBody>
      </p:sp>
      <p:sp>
        <p:nvSpPr>
          <p:cNvPr id="23" name="Text 20"/>
          <p:cNvSpPr txBox="1"/>
          <p:nvPr/>
        </p:nvSpPr>
        <p:spPr>
          <a:xfrm>
            <a:off x="457200" y="4160520"/>
            <a:ext cx="8229600" cy="365760"/>
          </a:xfrm>
          <a:prstGeom prst="rect">
            <a:avLst/>
          </a:prstGeom>
          <a:noFill/>
          <a:ln/>
        </p:spPr>
        <p:txBody>
          <a:bodyPr wrap="square" lIns="0" tIns="0" rIns="0" bIns="0" rtlCol="0" anchor="ctr"/>
          <a:lstStyle/>
          <a:p>
            <a:pPr indent="0" marL="0">
              <a:buNone/>
            </a:pPr>
            <a:r>
              <a:rPr lang="en-US" sz="1400" b="1" dirty="0">
                <a:solidFill>
                  <a:srgbClr val="E07010"/>
                </a:solidFill>
                <a:latin typeface="Calibri" pitchFamily="34" charset="0"/>
                <a:ea typeface="Calibri" pitchFamily="34" charset="-122"/>
                <a:cs typeface="Calibri" pitchFamily="34" charset="-120"/>
              </a:rPr>
              <a:t>Every point is shown to the officer as a reason line. No black box.</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07010"/>
          </a:solidFill>
          <a:ln w="12700">
            <a:solidFill>
              <a:srgbClr val="E07010"/>
            </a:solidFill>
            <a:prstDash val="solid"/>
          </a:ln>
        </p:spPr>
      </p:sp>
      <p:sp>
        <p:nvSpPr>
          <p:cNvPr id="3" name="Text 1"/>
          <p:cNvSpPr txBox="1"/>
          <p:nvPr/>
        </p:nvSpPr>
        <p:spPr>
          <a:xfrm>
            <a:off x="457200" y="201168"/>
            <a:ext cx="6400800" cy="228600"/>
          </a:xfrm>
          <a:prstGeom prst="rect">
            <a:avLst/>
          </a:prstGeom>
          <a:noFill/>
          <a:ln/>
        </p:spPr>
        <p:txBody>
          <a:bodyPr wrap="square" lIns="0" tIns="0" rIns="0" bIns="0" rtlCol="0" anchor="ctr"/>
          <a:lstStyle/>
          <a:p>
            <a:pPr indent="0" marL="0">
              <a:buNone/>
            </a:pPr>
            <a:r>
              <a:rPr lang="en-US" sz="1050" b="1" spc="200" kern="0" dirty="0">
                <a:solidFill>
                  <a:srgbClr val="E07010"/>
                </a:solidFill>
                <a:latin typeface="Calibri" pitchFamily="34" charset="0"/>
                <a:ea typeface="Calibri" pitchFamily="34" charset="-122"/>
                <a:cs typeface="Calibri" pitchFamily="34" charset="-120"/>
              </a:rPr>
              <a:t>DEPARTMENT VIEW</a:t>
            </a:r>
            <a:endParaRPr lang="en-US" sz="1050" dirty="0"/>
          </a:p>
        </p:txBody>
      </p:sp>
      <p:sp>
        <p:nvSpPr>
          <p:cNvPr id="4" name="Text 2"/>
          <p:cNvSpPr txBox="1"/>
          <p:nvPr/>
        </p:nvSpPr>
        <p:spPr>
          <a:xfrm>
            <a:off x="457200" y="429768"/>
            <a:ext cx="8229600" cy="685800"/>
          </a:xfrm>
          <a:prstGeom prst="rect">
            <a:avLst/>
          </a:prstGeom>
          <a:noFill/>
          <a:ln/>
        </p:spPr>
        <p:txBody>
          <a:bodyPr wrap="square" lIns="0" tIns="0" rIns="0" bIns="0" rtlCol="0" anchor="t"/>
          <a:lstStyle/>
          <a:p>
            <a:pPr indent="0" marL="0">
              <a:buNone/>
            </a:pPr>
            <a:r>
              <a:rPr lang="en-US" sz="2300" b="1" dirty="0">
                <a:solidFill>
                  <a:srgbClr val="153E7C"/>
                </a:solidFill>
                <a:latin typeface="Calibri" pitchFamily="34" charset="0"/>
                <a:ea typeface="Calibri" pitchFamily="34" charset="-122"/>
                <a:cs typeface="Calibri" pitchFamily="34" charset="-120"/>
              </a:rPr>
              <a:t>Department panel: one queue, sorted by priority, with overdue flags</a:t>
            </a:r>
            <a:endParaRPr lang="en-US" sz="2300" dirty="0"/>
          </a:p>
        </p:txBody>
      </p:sp>
      <p:sp>
        <p:nvSpPr>
          <p:cNvPr id="5" name="Text 3"/>
          <p:cNvSpPr txBox="1"/>
          <p:nvPr/>
        </p:nvSpPr>
        <p:spPr>
          <a:xfrm>
            <a:off x="457200" y="4828032"/>
            <a:ext cx="4572000" cy="201168"/>
          </a:xfrm>
          <a:prstGeom prst="rect">
            <a:avLst/>
          </a:prstGeom>
          <a:noFill/>
          <a:ln/>
        </p:spPr>
        <p:txBody>
          <a:bodyPr wrap="square" lIns="0" tIns="0" rIns="0" bIns="0" rtlCol="0" anchor="ctr"/>
          <a:lstStyle/>
          <a:p>
            <a:pPr indent="0" marL="0">
              <a:buNone/>
            </a:pPr>
            <a:r>
              <a:rPr lang="en-US" sz="900" dirty="0">
                <a:solidFill>
                  <a:srgbClr val="56627A"/>
                </a:solidFill>
                <a:latin typeface="Calibri" pitchFamily="34" charset="0"/>
                <a:ea typeface="Calibri" pitchFamily="34" charset="-122"/>
                <a:cs typeface="Calibri" pitchFamily="34" charset="-120"/>
              </a:rPr>
              <a:t>Chaukas AI  |  Team Shivay</a:t>
            </a:r>
            <a:endParaRPr lang="en-US" sz="900" dirty="0"/>
          </a:p>
        </p:txBody>
      </p:sp>
      <p:sp>
        <p:nvSpPr>
          <p:cNvPr id="6" name="Text 4"/>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56627A"/>
                </a:solidFill>
                <a:latin typeface="Calibri" pitchFamily="34" charset="0"/>
                <a:ea typeface="Calibri" pitchFamily="34" charset="-122"/>
                <a:cs typeface="Calibri" pitchFamily="34" charset="-120"/>
              </a:rPr>
              <a:t>8</a:t>
            </a:r>
            <a:endParaRPr lang="en-US" sz="900" dirty="0"/>
          </a:p>
        </p:txBody>
      </p:sp>
      <p:sp>
        <p:nvSpPr>
          <p:cNvPr id="7" name="Text 5"/>
          <p:cNvSpPr txBox="1"/>
          <p:nvPr/>
        </p:nvSpPr>
        <p:spPr>
          <a:xfrm>
            <a:off x="5669280" y="201168"/>
            <a:ext cx="3017520" cy="228600"/>
          </a:xfrm>
          <a:prstGeom prst="rect">
            <a:avLst/>
          </a:prstGeom>
          <a:noFill/>
          <a:ln/>
        </p:spPr>
        <p:txBody>
          <a:bodyPr wrap="square" lIns="0" tIns="0" rIns="0" bIns="0" rtlCol="0" anchor="ctr"/>
          <a:lstStyle/>
          <a:p>
            <a:pPr algn="r" indent="0" marL="0">
              <a:buNone/>
            </a:pPr>
            <a:r>
              <a:rPr lang="en-US" sz="950" dirty="0">
                <a:solidFill>
                  <a:srgbClr val="56627A"/>
                </a:solidFill>
                <a:latin typeface="Calibri" pitchFamily="34" charset="0"/>
                <a:ea typeface="Calibri" pitchFamily="34" charset="-122"/>
                <a:cs typeface="Calibri" pitchFamily="34" charset="-120"/>
              </a:rPr>
              <a:t>Presents: Madhav</a:t>
            </a:r>
            <a:endParaRPr lang="en-US" sz="950" dirty="0"/>
          </a:p>
        </p:txBody>
      </p:sp>
      <p:pic>
        <p:nvPicPr>
          <p:cNvPr id="8" name="Image 0" descr="/tmp/claude-0/work/demo/dept_queue.png">    </p:cNvPr>
          <p:cNvPicPr>
            <a:picLocks noChangeAspect="1"/>
          </p:cNvPicPr>
          <p:nvPr/>
        </p:nvPicPr>
        <p:blipFill>
          <a:blip r:embed="rId1"/>
          <a:stretch>
            <a:fillRect/>
          </a:stretch>
        </p:blipFill>
        <p:spPr>
          <a:xfrm>
            <a:off x="457200" y="1280160"/>
            <a:ext cx="5120640" cy="3200400"/>
          </a:xfrm>
          <a:prstGeom prst="rect">
            <a:avLst/>
          </a:prstGeom>
        </p:spPr>
      </p:pic>
      <p:sp>
        <p:nvSpPr>
          <p:cNvPr id="9" name="Shape 6"/>
          <p:cNvSpPr/>
          <p:nvPr/>
        </p:nvSpPr>
        <p:spPr>
          <a:xfrm>
            <a:off x="457200" y="1280160"/>
            <a:ext cx="5120640" cy="3200400"/>
          </a:xfrm>
          <a:prstGeom prst="rect">
            <a:avLst/>
          </a:prstGeom>
          <a:ln w="12700">
            <a:solidFill>
              <a:srgbClr val="D9DEE7"/>
            </a:solidFill>
            <a:prstDash val="solid"/>
          </a:ln>
        </p:spPr>
      </p:sp>
      <p:sp>
        <p:nvSpPr>
          <p:cNvPr id="10" name="Text 7"/>
          <p:cNvSpPr txBox="1"/>
          <p:nvPr/>
        </p:nvSpPr>
        <p:spPr>
          <a:xfrm>
            <a:off x="457200" y="4517136"/>
            <a:ext cx="5120640" cy="201168"/>
          </a:xfrm>
          <a:prstGeom prst="rect">
            <a:avLst/>
          </a:prstGeom>
          <a:noFill/>
          <a:ln/>
        </p:spPr>
        <p:txBody>
          <a:bodyPr wrap="square" lIns="0" tIns="0" rIns="0" bIns="0" rtlCol="0" anchor="ctr"/>
          <a:lstStyle/>
          <a:p>
            <a:pPr indent="0" marL="0">
              <a:buNone/>
            </a:pPr>
            <a:r>
              <a:rPr lang="en-US" sz="900" i="1" dirty="0">
                <a:solidFill>
                  <a:srgbClr val="56627A"/>
                </a:solidFill>
                <a:latin typeface="Calibri" pitchFamily="34" charset="0"/>
                <a:ea typeface="Calibri" pitchFamily="34" charset="-122"/>
                <a:cs typeface="Calibri" pitchFamily="34" charset="-120"/>
              </a:rPr>
              <a:t>PWD queue: severity, reasons, start work, upload after-photo</a:t>
            </a:r>
            <a:endParaRPr lang="en-US" sz="900" dirty="0"/>
          </a:p>
        </p:txBody>
      </p:sp>
      <p:sp>
        <p:nvSpPr>
          <p:cNvPr id="11" name="Text 8"/>
          <p:cNvSpPr txBox="1"/>
          <p:nvPr/>
        </p:nvSpPr>
        <p:spPr>
          <a:xfrm>
            <a:off x="5806440" y="1371600"/>
            <a:ext cx="2926080" cy="2926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72033"/>
                </a:solidFill>
                <a:latin typeface="Calibri" pitchFamily="34" charset="0"/>
                <a:ea typeface="Calibri" pitchFamily="34" charset="-122"/>
                <a:cs typeface="Calibri" pitchFamily="34" charset="-120"/>
              </a:rPr>
              <a:t>Officer sees only complaints routed to their department</a:t>
            </a:r>
            <a:endParaRPr lang="en-US" sz="1300" dirty="0"/>
          </a:p>
          <a:p>
            <a:pPr marL="342900" indent="-342900">
              <a:spcAft>
                <a:spcPts val="600"/>
              </a:spcAft>
              <a:buSzPct val="100000"/>
              <a:buChar char="•"/>
            </a:pPr>
            <a:r>
              <a:rPr lang="en-US" sz="1300" dirty="0">
                <a:solidFill>
                  <a:srgbClr val="172033"/>
                </a:solidFill>
                <a:latin typeface="Calibri" pitchFamily="34" charset="0"/>
                <a:ea typeface="Calibri" pitchFamily="34" charset="-122"/>
                <a:cs typeface="Calibri" pitchFamily="34" charset="-120"/>
              </a:rPr>
              <a:t>Highest severity first; every card shows why</a:t>
            </a:r>
            <a:endParaRPr lang="en-US" sz="1300" dirty="0"/>
          </a:p>
          <a:p>
            <a:pPr marL="342900" indent="-342900">
              <a:spcAft>
                <a:spcPts val="600"/>
              </a:spcAft>
              <a:buSzPct val="100000"/>
              <a:buChar char="•"/>
            </a:pPr>
            <a:r>
              <a:rPr lang="en-US" sz="1300" dirty="0">
                <a:solidFill>
                  <a:srgbClr val="172033"/>
                </a:solidFill>
                <a:latin typeface="Calibri" pitchFamily="34" charset="0"/>
                <a:ea typeface="Calibri" pitchFamily="34" charset="-122"/>
                <a:cs typeface="Calibri" pitchFamily="34" charset="-120"/>
              </a:rPr>
              <a:t>Cases open 7+ days are flagged Overdue</a:t>
            </a:r>
            <a:endParaRPr lang="en-US" sz="1300" dirty="0"/>
          </a:p>
          <a:p>
            <a:pPr marL="342900" indent="-342900">
              <a:spcAft>
                <a:spcPts val="600"/>
              </a:spcAft>
              <a:buSzPct val="100000"/>
              <a:buChar char="•"/>
            </a:pPr>
            <a:r>
              <a:rPr lang="en-US" sz="1300" dirty="0">
                <a:solidFill>
                  <a:srgbClr val="172033"/>
                </a:solidFill>
                <a:latin typeface="Calibri" pitchFamily="34" charset="0"/>
                <a:ea typeface="Calibri" pitchFamily="34" charset="-122"/>
                <a:cs typeface="Calibri" pitchFamily="34" charset="-120"/>
              </a:rPr>
              <a:t>Start work, then close with an after-photo; no photo, no closure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07010"/>
          </a:solidFill>
          <a:ln w="12700">
            <a:solidFill>
              <a:srgbClr val="E07010"/>
            </a:solidFill>
            <a:prstDash val="solid"/>
          </a:ln>
        </p:spPr>
      </p:sp>
      <p:sp>
        <p:nvSpPr>
          <p:cNvPr id="3" name="Text 1"/>
          <p:cNvSpPr txBox="1"/>
          <p:nvPr/>
        </p:nvSpPr>
        <p:spPr>
          <a:xfrm>
            <a:off x="457200" y="201168"/>
            <a:ext cx="6400800" cy="228600"/>
          </a:xfrm>
          <a:prstGeom prst="rect">
            <a:avLst/>
          </a:prstGeom>
          <a:noFill/>
          <a:ln/>
        </p:spPr>
        <p:txBody>
          <a:bodyPr wrap="square" lIns="0" tIns="0" rIns="0" bIns="0" rtlCol="0" anchor="ctr"/>
          <a:lstStyle/>
          <a:p>
            <a:pPr indent="0" marL="0">
              <a:buNone/>
            </a:pPr>
            <a:r>
              <a:rPr lang="en-US" sz="1050" b="1" spc="200" kern="0" dirty="0">
                <a:solidFill>
                  <a:srgbClr val="E07010"/>
                </a:solidFill>
                <a:latin typeface="Calibri" pitchFamily="34" charset="0"/>
                <a:ea typeface="Calibri" pitchFamily="34" charset="-122"/>
                <a:cs typeface="Calibri" pitchFamily="34" charset="-120"/>
              </a:rPr>
              <a:t>PROOF OF CLOSURE</a:t>
            </a:r>
            <a:endParaRPr lang="en-US" sz="1050" dirty="0"/>
          </a:p>
        </p:txBody>
      </p:sp>
      <p:sp>
        <p:nvSpPr>
          <p:cNvPr id="4" name="Text 2"/>
          <p:cNvSpPr txBox="1"/>
          <p:nvPr/>
        </p:nvSpPr>
        <p:spPr>
          <a:xfrm>
            <a:off x="457200" y="429768"/>
            <a:ext cx="8229600" cy="685800"/>
          </a:xfrm>
          <a:prstGeom prst="rect">
            <a:avLst/>
          </a:prstGeom>
          <a:noFill/>
          <a:ln/>
        </p:spPr>
        <p:txBody>
          <a:bodyPr wrap="square" lIns="0" tIns="0" rIns="0" bIns="0" rtlCol="0" anchor="t"/>
          <a:lstStyle/>
          <a:p>
            <a:pPr indent="0" marL="0">
              <a:buNone/>
            </a:pPr>
            <a:r>
              <a:rPr lang="en-US" sz="2300" b="1" dirty="0">
                <a:solidFill>
                  <a:srgbClr val="153E7C"/>
                </a:solidFill>
                <a:latin typeface="Calibri" pitchFamily="34" charset="0"/>
                <a:ea typeface="Calibri" pitchFamily="34" charset="-122"/>
                <a:cs typeface="Calibri" pitchFamily="34" charset="-120"/>
              </a:rPr>
              <a:t>Fake fixes are rejected: the AI checks the after-photo</a:t>
            </a:r>
            <a:endParaRPr lang="en-US" sz="2300" dirty="0"/>
          </a:p>
        </p:txBody>
      </p:sp>
      <p:sp>
        <p:nvSpPr>
          <p:cNvPr id="5" name="Text 3"/>
          <p:cNvSpPr txBox="1"/>
          <p:nvPr/>
        </p:nvSpPr>
        <p:spPr>
          <a:xfrm>
            <a:off x="457200" y="4828032"/>
            <a:ext cx="4572000" cy="201168"/>
          </a:xfrm>
          <a:prstGeom prst="rect">
            <a:avLst/>
          </a:prstGeom>
          <a:noFill/>
          <a:ln/>
        </p:spPr>
        <p:txBody>
          <a:bodyPr wrap="square" lIns="0" tIns="0" rIns="0" bIns="0" rtlCol="0" anchor="ctr"/>
          <a:lstStyle/>
          <a:p>
            <a:pPr indent="0" marL="0">
              <a:buNone/>
            </a:pPr>
            <a:r>
              <a:rPr lang="en-US" sz="900" dirty="0">
                <a:solidFill>
                  <a:srgbClr val="56627A"/>
                </a:solidFill>
                <a:latin typeface="Calibri" pitchFamily="34" charset="0"/>
                <a:ea typeface="Calibri" pitchFamily="34" charset="-122"/>
                <a:cs typeface="Calibri" pitchFamily="34" charset="-120"/>
              </a:rPr>
              <a:t>Chaukas AI  |  Team Shivay</a:t>
            </a:r>
            <a:endParaRPr lang="en-US" sz="900" dirty="0"/>
          </a:p>
        </p:txBody>
      </p:sp>
      <p:sp>
        <p:nvSpPr>
          <p:cNvPr id="6" name="Text 4"/>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56627A"/>
                </a:solidFill>
                <a:latin typeface="Calibri" pitchFamily="34" charset="0"/>
                <a:ea typeface="Calibri" pitchFamily="34" charset="-122"/>
                <a:cs typeface="Calibri" pitchFamily="34" charset="-120"/>
              </a:rPr>
              <a:t>9</a:t>
            </a:r>
            <a:endParaRPr lang="en-US" sz="900" dirty="0"/>
          </a:p>
        </p:txBody>
      </p:sp>
      <p:sp>
        <p:nvSpPr>
          <p:cNvPr id="7" name="Text 5"/>
          <p:cNvSpPr txBox="1"/>
          <p:nvPr/>
        </p:nvSpPr>
        <p:spPr>
          <a:xfrm>
            <a:off x="5669280" y="201168"/>
            <a:ext cx="3017520" cy="228600"/>
          </a:xfrm>
          <a:prstGeom prst="rect">
            <a:avLst/>
          </a:prstGeom>
          <a:noFill/>
          <a:ln/>
        </p:spPr>
        <p:txBody>
          <a:bodyPr wrap="square" lIns="0" tIns="0" rIns="0" bIns="0" rtlCol="0" anchor="ctr"/>
          <a:lstStyle/>
          <a:p>
            <a:pPr algn="r" indent="0" marL="0">
              <a:buNone/>
            </a:pPr>
            <a:r>
              <a:rPr lang="en-US" sz="950" dirty="0">
                <a:solidFill>
                  <a:srgbClr val="56627A"/>
                </a:solidFill>
                <a:latin typeface="Calibri" pitchFamily="34" charset="0"/>
                <a:ea typeface="Calibri" pitchFamily="34" charset="-122"/>
                <a:cs typeface="Calibri" pitchFamily="34" charset="-120"/>
              </a:rPr>
              <a:t>Presents: Abhishek</a:t>
            </a:r>
            <a:endParaRPr lang="en-US" sz="950" dirty="0"/>
          </a:p>
        </p:txBody>
      </p:sp>
      <p:pic>
        <p:nvPicPr>
          <p:cNvPr id="8" name="Image 0" descr="/tmp/claude-0/work/demo/dept_wrong_photo.png">    </p:cNvPr>
          <p:cNvPicPr>
            <a:picLocks noChangeAspect="1"/>
          </p:cNvPicPr>
          <p:nvPr/>
        </p:nvPicPr>
        <p:blipFill>
          <a:blip r:embed="rId1"/>
          <a:stretch>
            <a:fillRect/>
          </a:stretch>
        </p:blipFill>
        <p:spPr>
          <a:xfrm>
            <a:off x="457200" y="1188720"/>
            <a:ext cx="4023360" cy="2514600"/>
          </a:xfrm>
          <a:prstGeom prst="rect">
            <a:avLst/>
          </a:prstGeom>
        </p:spPr>
      </p:pic>
      <p:sp>
        <p:nvSpPr>
          <p:cNvPr id="9" name="Shape 6"/>
          <p:cNvSpPr/>
          <p:nvPr/>
        </p:nvSpPr>
        <p:spPr>
          <a:xfrm>
            <a:off x="457200" y="1188720"/>
            <a:ext cx="4023360" cy="2514600"/>
          </a:xfrm>
          <a:prstGeom prst="rect">
            <a:avLst/>
          </a:prstGeom>
          <a:ln w="12700">
            <a:solidFill>
              <a:srgbClr val="D9DEE7"/>
            </a:solidFill>
            <a:prstDash val="solid"/>
          </a:ln>
        </p:spPr>
      </p:sp>
      <p:sp>
        <p:nvSpPr>
          <p:cNvPr id="10" name="Text 7"/>
          <p:cNvSpPr txBox="1"/>
          <p:nvPr/>
        </p:nvSpPr>
        <p:spPr>
          <a:xfrm>
            <a:off x="457200" y="3739896"/>
            <a:ext cx="4023360" cy="201168"/>
          </a:xfrm>
          <a:prstGeom prst="rect">
            <a:avLst/>
          </a:prstGeom>
          <a:noFill/>
          <a:ln/>
        </p:spPr>
        <p:txBody>
          <a:bodyPr wrap="square" lIns="0" tIns="0" rIns="0" bIns="0" rtlCol="0" anchor="ctr"/>
          <a:lstStyle/>
          <a:p>
            <a:pPr indent="0" marL="0">
              <a:buNone/>
            </a:pPr>
            <a:r>
              <a:rPr lang="en-US" sz="900" i="1" dirty="0">
                <a:solidFill>
                  <a:srgbClr val="56627A"/>
                </a:solidFill>
                <a:latin typeface="Calibri" pitchFamily="34" charset="0"/>
                <a:ea typeface="Calibri" pitchFamily="34" charset="-122"/>
                <a:cs typeface="Calibri" pitchFamily="34" charset="-120"/>
              </a:rPr>
              <a:t>A garbage photo uploaded for a pothole: NOT closed</a:t>
            </a:r>
            <a:endParaRPr lang="en-US" sz="900" dirty="0"/>
          </a:p>
        </p:txBody>
      </p:sp>
      <p:pic>
        <p:nvPicPr>
          <p:cNvPr id="11" name="Image 1" descr="/tmp/claude-0/work/demo/dept_verified.png">    </p:cNvPr>
          <p:cNvPicPr>
            <a:picLocks noChangeAspect="1"/>
          </p:cNvPicPr>
          <p:nvPr/>
        </p:nvPicPr>
        <p:blipFill>
          <a:blip r:embed="rId2"/>
          <a:stretch>
            <a:fillRect/>
          </a:stretch>
        </p:blipFill>
        <p:spPr>
          <a:xfrm>
            <a:off x="4663440" y="1188720"/>
            <a:ext cx="4023360" cy="2514600"/>
          </a:xfrm>
          <a:prstGeom prst="rect">
            <a:avLst/>
          </a:prstGeom>
        </p:spPr>
      </p:pic>
      <p:sp>
        <p:nvSpPr>
          <p:cNvPr id="12" name="Shape 8"/>
          <p:cNvSpPr/>
          <p:nvPr/>
        </p:nvSpPr>
        <p:spPr>
          <a:xfrm>
            <a:off x="4663440" y="1188720"/>
            <a:ext cx="4023360" cy="2514600"/>
          </a:xfrm>
          <a:prstGeom prst="rect">
            <a:avLst/>
          </a:prstGeom>
          <a:ln w="12700">
            <a:solidFill>
              <a:srgbClr val="D9DEE7"/>
            </a:solidFill>
            <a:prstDash val="solid"/>
          </a:ln>
        </p:spPr>
      </p:sp>
      <p:sp>
        <p:nvSpPr>
          <p:cNvPr id="13" name="Text 9"/>
          <p:cNvSpPr txBox="1"/>
          <p:nvPr/>
        </p:nvSpPr>
        <p:spPr>
          <a:xfrm>
            <a:off x="4663440" y="3739896"/>
            <a:ext cx="4023360" cy="201168"/>
          </a:xfrm>
          <a:prstGeom prst="rect">
            <a:avLst/>
          </a:prstGeom>
          <a:noFill/>
          <a:ln/>
        </p:spPr>
        <p:txBody>
          <a:bodyPr wrap="square" lIns="0" tIns="0" rIns="0" bIns="0" rtlCol="0" anchor="ctr"/>
          <a:lstStyle/>
          <a:p>
            <a:pPr indent="0" marL="0">
              <a:buNone/>
            </a:pPr>
            <a:r>
              <a:rPr lang="en-US" sz="900" i="1" dirty="0">
                <a:solidFill>
                  <a:srgbClr val="56627A"/>
                </a:solidFill>
                <a:latin typeface="Calibri" pitchFamily="34" charset="0"/>
                <a:ea typeface="Calibri" pitchFamily="34" charset="-122"/>
                <a:cs typeface="Calibri" pitchFamily="34" charset="-120"/>
              </a:rPr>
              <a:t>Correct after-photo: "crater completely filled", 98%, 0 m from spot</a:t>
            </a:r>
            <a:endParaRPr lang="en-US" sz="900" dirty="0"/>
          </a:p>
        </p:txBody>
      </p:sp>
      <p:sp>
        <p:nvSpPr>
          <p:cNvPr id="14" name="Text 10"/>
          <p:cNvSpPr txBox="1"/>
          <p:nvPr/>
        </p:nvSpPr>
        <p:spPr>
          <a:xfrm>
            <a:off x="457200" y="4114800"/>
            <a:ext cx="8229600" cy="64008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72033"/>
                </a:solidFill>
                <a:latin typeface="Calibri" pitchFamily="34" charset="0"/>
                <a:ea typeface="Calibri" pitchFamily="34" charset="-122"/>
                <a:cs typeface="Calibri" pitchFamily="34" charset="-120"/>
              </a:rPr>
              <a:t>Checks: same issue, same place (GPS within 300 m), actually repaired</a:t>
            </a:r>
            <a:endParaRPr lang="en-US" sz="1200" dirty="0"/>
          </a:p>
          <a:p>
            <a:pPr marL="342900" indent="-342900">
              <a:spcAft>
                <a:spcPts val="600"/>
              </a:spcAft>
              <a:buSzPct val="100000"/>
              <a:buChar char="•"/>
            </a:pPr>
            <a:r>
              <a:rPr lang="en-US" sz="1200" dirty="0">
                <a:solidFill>
                  <a:srgbClr val="172033"/>
                </a:solidFill>
                <a:latin typeface="Calibri" pitchFamily="34" charset="0"/>
                <a:ea typeface="Calibri" pitchFamily="34" charset="-122"/>
                <a:cs typeface="Calibri" pitchFamily="34" charset="-120"/>
              </a:rPr>
              <a:t>Wrong or unrelated photo keeps the case open and records the reason</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07010"/>
          </a:solidFill>
          <a:ln w="12700">
            <a:solidFill>
              <a:srgbClr val="E07010"/>
            </a:solidFill>
            <a:prstDash val="solid"/>
          </a:ln>
        </p:spPr>
      </p:sp>
      <p:sp>
        <p:nvSpPr>
          <p:cNvPr id="3" name="Text 1"/>
          <p:cNvSpPr txBox="1"/>
          <p:nvPr/>
        </p:nvSpPr>
        <p:spPr>
          <a:xfrm>
            <a:off x="457200" y="201168"/>
            <a:ext cx="6400800" cy="228600"/>
          </a:xfrm>
          <a:prstGeom prst="rect">
            <a:avLst/>
          </a:prstGeom>
          <a:noFill/>
          <a:ln/>
        </p:spPr>
        <p:txBody>
          <a:bodyPr wrap="square" lIns="0" tIns="0" rIns="0" bIns="0" rtlCol="0" anchor="ctr"/>
          <a:lstStyle/>
          <a:p>
            <a:pPr indent="0" marL="0">
              <a:buNone/>
            </a:pPr>
            <a:r>
              <a:rPr lang="en-US" sz="1050" b="1" spc="200" kern="0" dirty="0">
                <a:solidFill>
                  <a:srgbClr val="E07010"/>
                </a:solidFill>
                <a:latin typeface="Calibri" pitchFamily="34" charset="0"/>
                <a:ea typeface="Calibri" pitchFamily="34" charset="-122"/>
                <a:cs typeface="Calibri" pitchFamily="34" charset="-120"/>
              </a:rPr>
              <a:t>MONITORING</a:t>
            </a:r>
            <a:endParaRPr lang="en-US" sz="1050" dirty="0"/>
          </a:p>
        </p:txBody>
      </p:sp>
      <p:sp>
        <p:nvSpPr>
          <p:cNvPr id="4" name="Text 2"/>
          <p:cNvSpPr txBox="1"/>
          <p:nvPr/>
        </p:nvSpPr>
        <p:spPr>
          <a:xfrm>
            <a:off x="457200" y="429768"/>
            <a:ext cx="8229600" cy="685800"/>
          </a:xfrm>
          <a:prstGeom prst="rect">
            <a:avLst/>
          </a:prstGeom>
          <a:noFill/>
          <a:ln/>
        </p:spPr>
        <p:txBody>
          <a:bodyPr wrap="square" lIns="0" tIns="0" rIns="0" bIns="0" rtlCol="0" anchor="t"/>
          <a:lstStyle/>
          <a:p>
            <a:pPr indent="0" marL="0">
              <a:buNone/>
            </a:pPr>
            <a:r>
              <a:rPr lang="en-US" sz="2300" b="1" dirty="0">
                <a:solidFill>
                  <a:srgbClr val="153E7C"/>
                </a:solidFill>
                <a:latin typeface="Calibri" pitchFamily="34" charset="0"/>
                <a:ea typeface="Calibri" pitchFamily="34" charset="-122"/>
                <a:cs typeface="Calibri" pitchFamily="34" charset="-120"/>
              </a:rPr>
              <a:t>City dashboard and admin panel: accountability for the whole city</a:t>
            </a:r>
            <a:endParaRPr lang="en-US" sz="2300" dirty="0"/>
          </a:p>
        </p:txBody>
      </p:sp>
      <p:sp>
        <p:nvSpPr>
          <p:cNvPr id="5" name="Text 3"/>
          <p:cNvSpPr txBox="1"/>
          <p:nvPr/>
        </p:nvSpPr>
        <p:spPr>
          <a:xfrm>
            <a:off x="457200" y="4828032"/>
            <a:ext cx="4572000" cy="201168"/>
          </a:xfrm>
          <a:prstGeom prst="rect">
            <a:avLst/>
          </a:prstGeom>
          <a:noFill/>
          <a:ln/>
        </p:spPr>
        <p:txBody>
          <a:bodyPr wrap="square" lIns="0" tIns="0" rIns="0" bIns="0" rtlCol="0" anchor="ctr"/>
          <a:lstStyle/>
          <a:p>
            <a:pPr indent="0" marL="0">
              <a:buNone/>
            </a:pPr>
            <a:r>
              <a:rPr lang="en-US" sz="900" dirty="0">
                <a:solidFill>
                  <a:srgbClr val="56627A"/>
                </a:solidFill>
                <a:latin typeface="Calibri" pitchFamily="34" charset="0"/>
                <a:ea typeface="Calibri" pitchFamily="34" charset="-122"/>
                <a:cs typeface="Calibri" pitchFamily="34" charset="-120"/>
              </a:rPr>
              <a:t>Chaukas AI  |  Team Shivay</a:t>
            </a:r>
            <a:endParaRPr lang="en-US" sz="900" dirty="0"/>
          </a:p>
        </p:txBody>
      </p:sp>
      <p:sp>
        <p:nvSpPr>
          <p:cNvPr id="6" name="Text 4"/>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56627A"/>
                </a:solidFill>
                <a:latin typeface="Calibri" pitchFamily="34" charset="0"/>
                <a:ea typeface="Calibri" pitchFamily="34" charset="-122"/>
                <a:cs typeface="Calibri" pitchFamily="34" charset="-120"/>
              </a:rPr>
              <a:t>10</a:t>
            </a:r>
            <a:endParaRPr lang="en-US" sz="900" dirty="0"/>
          </a:p>
        </p:txBody>
      </p:sp>
      <p:sp>
        <p:nvSpPr>
          <p:cNvPr id="7" name="Text 5"/>
          <p:cNvSpPr txBox="1"/>
          <p:nvPr/>
        </p:nvSpPr>
        <p:spPr>
          <a:xfrm>
            <a:off x="5669280" y="201168"/>
            <a:ext cx="3017520" cy="228600"/>
          </a:xfrm>
          <a:prstGeom prst="rect">
            <a:avLst/>
          </a:prstGeom>
          <a:noFill/>
          <a:ln/>
        </p:spPr>
        <p:txBody>
          <a:bodyPr wrap="square" lIns="0" tIns="0" rIns="0" bIns="0" rtlCol="0" anchor="ctr"/>
          <a:lstStyle/>
          <a:p>
            <a:pPr algn="r" indent="0" marL="0">
              <a:buNone/>
            </a:pPr>
            <a:r>
              <a:rPr lang="en-US" sz="950" dirty="0">
                <a:solidFill>
                  <a:srgbClr val="56627A"/>
                </a:solidFill>
                <a:latin typeface="Calibri" pitchFamily="34" charset="0"/>
                <a:ea typeface="Calibri" pitchFamily="34" charset="-122"/>
                <a:cs typeface="Calibri" pitchFamily="34" charset="-120"/>
              </a:rPr>
              <a:t>Presents: Avni</a:t>
            </a:r>
            <a:endParaRPr lang="en-US" sz="950" dirty="0"/>
          </a:p>
        </p:txBody>
      </p:sp>
      <p:pic>
        <p:nvPicPr>
          <p:cNvPr id="8" name="Image 0" descr="/tmp/claude-0/work/demo/dash.png">    </p:cNvPr>
          <p:cNvPicPr>
            <a:picLocks noChangeAspect="1"/>
          </p:cNvPicPr>
          <p:nvPr/>
        </p:nvPicPr>
        <p:blipFill>
          <a:blip r:embed="rId1"/>
          <a:stretch>
            <a:fillRect/>
          </a:stretch>
        </p:blipFill>
        <p:spPr>
          <a:xfrm>
            <a:off x="457200" y="1188720"/>
            <a:ext cx="4023360" cy="2514600"/>
          </a:xfrm>
          <a:prstGeom prst="rect">
            <a:avLst/>
          </a:prstGeom>
        </p:spPr>
      </p:pic>
      <p:sp>
        <p:nvSpPr>
          <p:cNvPr id="9" name="Shape 6"/>
          <p:cNvSpPr/>
          <p:nvPr/>
        </p:nvSpPr>
        <p:spPr>
          <a:xfrm>
            <a:off x="457200" y="1188720"/>
            <a:ext cx="4023360" cy="2514600"/>
          </a:xfrm>
          <a:prstGeom prst="rect">
            <a:avLst/>
          </a:prstGeom>
          <a:ln w="12700">
            <a:solidFill>
              <a:srgbClr val="D9DEE7"/>
            </a:solidFill>
            <a:prstDash val="solid"/>
          </a:ln>
        </p:spPr>
      </p:sp>
      <p:sp>
        <p:nvSpPr>
          <p:cNvPr id="10" name="Text 7"/>
          <p:cNvSpPr txBox="1"/>
          <p:nvPr/>
        </p:nvSpPr>
        <p:spPr>
          <a:xfrm>
            <a:off x="457200" y="3739896"/>
            <a:ext cx="4023360" cy="201168"/>
          </a:xfrm>
          <a:prstGeom prst="rect">
            <a:avLst/>
          </a:prstGeom>
          <a:noFill/>
          <a:ln/>
        </p:spPr>
        <p:txBody>
          <a:bodyPr wrap="square" lIns="0" tIns="0" rIns="0" bIns="0" rtlCol="0" anchor="ctr"/>
          <a:lstStyle/>
          <a:p>
            <a:pPr indent="0" marL="0">
              <a:buNone/>
            </a:pPr>
            <a:r>
              <a:rPr lang="en-US" sz="900" i="1" dirty="0">
                <a:solidFill>
                  <a:srgbClr val="56627A"/>
                </a:solidFill>
                <a:latin typeface="Calibri" pitchFamily="34" charset="0"/>
                <a:ea typeface="Calibri" pitchFamily="34" charset="-122"/>
                <a:cs typeface="Calibri" pitchFamily="34" charset="-120"/>
              </a:rPr>
              <a:t>Priority map and queue (Roorkee)</a:t>
            </a:r>
            <a:endParaRPr lang="en-US" sz="900" dirty="0"/>
          </a:p>
        </p:txBody>
      </p:sp>
      <p:pic>
        <p:nvPicPr>
          <p:cNvPr id="11" name="Image 1" descr="/tmp/claude-0/work/demo/admin_overview.png">    </p:cNvPr>
          <p:cNvPicPr>
            <a:picLocks noChangeAspect="1"/>
          </p:cNvPicPr>
          <p:nvPr/>
        </p:nvPicPr>
        <p:blipFill>
          <a:blip r:embed="rId2"/>
          <a:stretch>
            <a:fillRect/>
          </a:stretch>
        </p:blipFill>
        <p:spPr>
          <a:xfrm>
            <a:off x="4663440" y="1188720"/>
            <a:ext cx="4023360" cy="2514600"/>
          </a:xfrm>
          <a:prstGeom prst="rect">
            <a:avLst/>
          </a:prstGeom>
        </p:spPr>
      </p:pic>
      <p:sp>
        <p:nvSpPr>
          <p:cNvPr id="12" name="Shape 8"/>
          <p:cNvSpPr/>
          <p:nvPr/>
        </p:nvSpPr>
        <p:spPr>
          <a:xfrm>
            <a:off x="4663440" y="1188720"/>
            <a:ext cx="4023360" cy="2514600"/>
          </a:xfrm>
          <a:prstGeom prst="rect">
            <a:avLst/>
          </a:prstGeom>
          <a:ln w="12700">
            <a:solidFill>
              <a:srgbClr val="D9DEE7"/>
            </a:solidFill>
            <a:prstDash val="solid"/>
          </a:ln>
        </p:spPr>
      </p:sp>
      <p:sp>
        <p:nvSpPr>
          <p:cNvPr id="13" name="Text 9"/>
          <p:cNvSpPr txBox="1"/>
          <p:nvPr/>
        </p:nvSpPr>
        <p:spPr>
          <a:xfrm>
            <a:off x="4663440" y="3739896"/>
            <a:ext cx="4023360" cy="201168"/>
          </a:xfrm>
          <a:prstGeom prst="rect">
            <a:avLst/>
          </a:prstGeom>
          <a:noFill/>
          <a:ln/>
        </p:spPr>
        <p:txBody>
          <a:bodyPr wrap="square" lIns="0" tIns="0" rIns="0" bIns="0" rtlCol="0" anchor="ctr"/>
          <a:lstStyle/>
          <a:p>
            <a:pPr indent="0" marL="0">
              <a:buNone/>
            </a:pPr>
            <a:r>
              <a:rPr lang="en-US" sz="900" i="1" dirty="0">
                <a:solidFill>
                  <a:srgbClr val="56627A"/>
                </a:solidFill>
                <a:latin typeface="Calibri" pitchFamily="34" charset="0"/>
                <a:ea typeface="Calibri" pitchFamily="34" charset="-122"/>
                <a:cs typeface="Calibri" pitchFamily="34" charset="-120"/>
              </a:rPr>
              <a:t>Admin overview with audit log</a:t>
            </a:r>
            <a:endParaRPr lang="en-US" sz="900" dirty="0"/>
          </a:p>
        </p:txBody>
      </p:sp>
      <p:sp>
        <p:nvSpPr>
          <p:cNvPr id="14" name="Text 10"/>
          <p:cNvSpPr txBox="1"/>
          <p:nvPr/>
        </p:nvSpPr>
        <p:spPr>
          <a:xfrm>
            <a:off x="457200" y="4114800"/>
            <a:ext cx="8229600" cy="68580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72033"/>
                </a:solidFill>
                <a:latin typeface="Calibri" pitchFamily="34" charset="0"/>
                <a:ea typeface="Calibri" pitchFamily="34" charset="-122"/>
                <a:cs typeface="Calibri" pitchFamily="34" charset="-120"/>
              </a:rPr>
              <a:t>Open, critical, resolution rate and average closure time per city</a:t>
            </a:r>
            <a:endParaRPr lang="en-US" sz="1100" dirty="0"/>
          </a:p>
          <a:p>
            <a:pPr marL="342900" indent="-342900">
              <a:spcAft>
                <a:spcPts val="600"/>
              </a:spcAft>
              <a:buSzPct val="100000"/>
              <a:buChar char="•"/>
            </a:pPr>
            <a:r>
              <a:rPr lang="en-US" sz="1100" dirty="0">
                <a:solidFill>
                  <a:srgbClr val="172033"/>
                </a:solidFill>
                <a:latin typeface="Calibri" pitchFamily="34" charset="0"/>
                <a:ea typeface="Calibri" pitchFamily="34" charset="-122"/>
                <a:cs typeface="Calibri" pitchFamily="34" charset="-120"/>
              </a:rPr>
              <a:t>Map pins coloured by severity; filters by type and status</a:t>
            </a:r>
            <a:endParaRPr lang="en-US" sz="1100" dirty="0"/>
          </a:p>
          <a:p>
            <a:pPr marL="342900" indent="-342900">
              <a:spcAft>
                <a:spcPts val="600"/>
              </a:spcAft>
              <a:buSzPct val="100000"/>
              <a:buChar char="•"/>
            </a:pPr>
            <a:r>
              <a:rPr lang="en-US" sz="1100" dirty="0">
                <a:solidFill>
                  <a:srgbClr val="172033"/>
                </a:solidFill>
                <a:latin typeface="Calibri" pitchFamily="34" charset="0"/>
                <a:ea typeface="Calibri" pitchFamily="34" charset="-122"/>
                <a:cs typeface="Calibri" pitchFamily="34" charset="-120"/>
              </a:rPr>
              <a:t>Admin: edit status, add notes, delete, full audit trail</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07010"/>
          </a:solidFill>
          <a:ln w="12700">
            <a:solidFill>
              <a:srgbClr val="E07010"/>
            </a:solidFill>
            <a:prstDash val="solid"/>
          </a:ln>
        </p:spPr>
      </p:sp>
      <p:sp>
        <p:nvSpPr>
          <p:cNvPr id="3" name="Text 1"/>
          <p:cNvSpPr txBox="1"/>
          <p:nvPr/>
        </p:nvSpPr>
        <p:spPr>
          <a:xfrm>
            <a:off x="457200" y="201168"/>
            <a:ext cx="6400800" cy="228600"/>
          </a:xfrm>
          <a:prstGeom prst="rect">
            <a:avLst/>
          </a:prstGeom>
          <a:noFill/>
          <a:ln/>
        </p:spPr>
        <p:txBody>
          <a:bodyPr wrap="square" lIns="0" tIns="0" rIns="0" bIns="0" rtlCol="0" anchor="ctr"/>
          <a:lstStyle/>
          <a:p>
            <a:pPr indent="0" marL="0">
              <a:buNone/>
            </a:pPr>
            <a:r>
              <a:rPr lang="en-US" sz="1050" b="1" spc="200" kern="0" dirty="0">
                <a:solidFill>
                  <a:srgbClr val="E07010"/>
                </a:solidFill>
                <a:latin typeface="Calibri" pitchFamily="34" charset="0"/>
                <a:ea typeface="Calibri" pitchFamily="34" charset="-122"/>
                <a:cs typeface="Calibri" pitchFamily="34" charset="-120"/>
              </a:rPr>
              <a:t>REAL AI RESULTS FROM OUR RECORDED SESSION</a:t>
            </a:r>
            <a:endParaRPr lang="en-US" sz="1050" dirty="0"/>
          </a:p>
        </p:txBody>
      </p:sp>
      <p:sp>
        <p:nvSpPr>
          <p:cNvPr id="4" name="Text 2"/>
          <p:cNvSpPr txBox="1"/>
          <p:nvPr/>
        </p:nvSpPr>
        <p:spPr>
          <a:xfrm>
            <a:off x="457200" y="429768"/>
            <a:ext cx="8229600" cy="685800"/>
          </a:xfrm>
          <a:prstGeom prst="rect">
            <a:avLst/>
          </a:prstGeom>
          <a:noFill/>
          <a:ln/>
        </p:spPr>
        <p:txBody>
          <a:bodyPr wrap="square" lIns="0" tIns="0" rIns="0" bIns="0" rtlCol="0" anchor="t"/>
          <a:lstStyle/>
          <a:p>
            <a:pPr indent="0" marL="0">
              <a:buNone/>
            </a:pPr>
            <a:r>
              <a:rPr lang="en-US" sz="2300" b="1" dirty="0">
                <a:solidFill>
                  <a:srgbClr val="153E7C"/>
                </a:solidFill>
                <a:latin typeface="Calibri" pitchFamily="34" charset="0"/>
                <a:ea typeface="Calibri" pitchFamily="34" charset="-122"/>
                <a:cs typeface="Calibri" pitchFamily="34" charset="-120"/>
              </a:rPr>
              <a:t>Different photos, different scores: real runs, not canned output</a:t>
            </a:r>
            <a:endParaRPr lang="en-US" sz="2300" dirty="0"/>
          </a:p>
        </p:txBody>
      </p:sp>
      <p:sp>
        <p:nvSpPr>
          <p:cNvPr id="5" name="Text 3"/>
          <p:cNvSpPr txBox="1"/>
          <p:nvPr/>
        </p:nvSpPr>
        <p:spPr>
          <a:xfrm>
            <a:off x="457200" y="4828032"/>
            <a:ext cx="4572000" cy="201168"/>
          </a:xfrm>
          <a:prstGeom prst="rect">
            <a:avLst/>
          </a:prstGeom>
          <a:noFill/>
          <a:ln/>
        </p:spPr>
        <p:txBody>
          <a:bodyPr wrap="square" lIns="0" tIns="0" rIns="0" bIns="0" rtlCol="0" anchor="ctr"/>
          <a:lstStyle/>
          <a:p>
            <a:pPr indent="0" marL="0">
              <a:buNone/>
            </a:pPr>
            <a:r>
              <a:rPr lang="en-US" sz="900" dirty="0">
                <a:solidFill>
                  <a:srgbClr val="56627A"/>
                </a:solidFill>
                <a:latin typeface="Calibri" pitchFamily="34" charset="0"/>
                <a:ea typeface="Calibri" pitchFamily="34" charset="-122"/>
                <a:cs typeface="Calibri" pitchFamily="34" charset="-120"/>
              </a:rPr>
              <a:t>Chaukas AI  |  Team Shivay</a:t>
            </a:r>
            <a:endParaRPr lang="en-US" sz="900" dirty="0"/>
          </a:p>
        </p:txBody>
      </p:sp>
      <p:sp>
        <p:nvSpPr>
          <p:cNvPr id="6" name="Text 4"/>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56627A"/>
                </a:solidFill>
                <a:latin typeface="Calibri" pitchFamily="34" charset="0"/>
                <a:ea typeface="Calibri" pitchFamily="34" charset="-122"/>
                <a:cs typeface="Calibri" pitchFamily="34" charset="-120"/>
              </a:rPr>
              <a:t>11</a:t>
            </a:r>
            <a:endParaRPr lang="en-US" sz="900" dirty="0"/>
          </a:p>
        </p:txBody>
      </p:sp>
      <p:sp>
        <p:nvSpPr>
          <p:cNvPr id="7" name="Text 5"/>
          <p:cNvSpPr txBox="1"/>
          <p:nvPr/>
        </p:nvSpPr>
        <p:spPr>
          <a:xfrm>
            <a:off x="5669280" y="201168"/>
            <a:ext cx="3017520" cy="228600"/>
          </a:xfrm>
          <a:prstGeom prst="rect">
            <a:avLst/>
          </a:prstGeom>
          <a:noFill/>
          <a:ln/>
        </p:spPr>
        <p:txBody>
          <a:bodyPr wrap="square" lIns="0" tIns="0" rIns="0" bIns="0" rtlCol="0" anchor="ctr"/>
          <a:lstStyle/>
          <a:p>
            <a:pPr algn="r" indent="0" marL="0">
              <a:buNone/>
            </a:pPr>
            <a:r>
              <a:rPr lang="en-US" sz="950" dirty="0">
                <a:solidFill>
                  <a:srgbClr val="56627A"/>
                </a:solidFill>
                <a:latin typeface="Calibri" pitchFamily="34" charset="0"/>
                <a:ea typeface="Calibri" pitchFamily="34" charset="-122"/>
                <a:cs typeface="Calibri" pitchFamily="34" charset="-120"/>
              </a:rPr>
              <a:t>Presents: Abhishek</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914400"/>
                <a:gridCol w="1463040"/>
                <a:gridCol w="1005840"/>
                <a:gridCol w="1097280"/>
                <a:gridCol w="1097280"/>
                <a:gridCol w="265176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Case</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53E7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Category</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53E7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AI score</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53E7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Final score</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53E7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Level</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53E7C"/>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Routed to</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153E7C"/>
                    </a:solidFill>
                  </a:tcPr>
                </a:tc>
              </a:tr>
              <a:tr h="457200">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CS-1047</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Road damage</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10</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Critical</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PWD</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CS-1048</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Garbage</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8</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Municipal Corp - Sanitation</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CS-1049</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Water leakage</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7</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High</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Jal Sansthan</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CS-1050</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Streetlight</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5</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Medium</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c>
                  <a:txBody>
                    <a:bodyPr/>
                    <a:lstStyle/>
                    <a:p>
                      <a:pPr indent="0" marL="0">
                        <a:buNone/>
                      </a:pPr>
                      <a:r>
                        <a:rPr lang="en-US" sz="1300" dirty="0">
                          <a:solidFill>
                            <a:srgbClr val="172033"/>
                          </a:solidFill>
                          <a:latin typeface="Calibri" pitchFamily="34" charset="0"/>
                          <a:ea typeface="Calibri" pitchFamily="34" charset="-122"/>
                          <a:cs typeface="Calibri" pitchFamily="34" charset="-120"/>
                        </a:rPr>
                        <a:t>Municipal Corp / UPCL</a:t>
                      </a:r>
                      <a:endParaRPr lang="en-US" sz="1300" dirty="0">
                        <a:latin typeface="Calibri" charset="0"/>
                        <a:ea typeface="Calibri" charset="0"/>
                        <a:cs typeface="Calibri" charset="0"/>
                      </a:endParaRPr>
                    </a:p>
                  </a:txBody>
                  <a:tcPr marL="91440" marR="91440" marT="45720" marB="45720" anchor="ctr">
                    <a:lnL w="9525" cap="flat" cmpd="sng" algn="ctr">
                      <a:solidFill>
                        <a:srgbClr val="D9DEE7"/>
                      </a:solidFill>
                      <a:prstDash val="solid"/>
                      <a:round/>
                      <a:headEnd type="none" w="med" len="med"/>
                      <a:tailEnd type="none" w="med" len="med"/>
                    </a:lnL>
                    <a:lnR w="9525" cap="flat" cmpd="sng" algn="ctr">
                      <a:solidFill>
                        <a:srgbClr val="D9DEE7"/>
                      </a:solidFill>
                      <a:prstDash val="solid"/>
                      <a:round/>
                      <a:headEnd type="none" w="med" len="med"/>
                      <a:tailEnd type="none" w="med" len="med"/>
                    </a:lnR>
                    <a:lnT w="9525" cap="flat" cmpd="sng" algn="ctr">
                      <a:solidFill>
                        <a:srgbClr val="D9DEE7"/>
                      </a:solidFill>
                      <a:prstDash val="solid"/>
                      <a:round/>
                      <a:headEnd type="none" w="med" len="med"/>
                      <a:tailEnd type="none" w="med" len="med"/>
                    </a:lnT>
                    <a:lnB w="9525" cap="flat" cmpd="sng" algn="ctr">
                      <a:solidFill>
                        <a:srgbClr val="D9DEE7"/>
                      </a:solidFill>
                      <a:prstDash val="solid"/>
                      <a:round/>
                      <a:headEnd type="none" w="med" len="med"/>
                      <a:tailEnd type="none" w="med" len="med"/>
                    </a:lnB>
                    <a:solidFill>
                      <a:srgbClr val="FFFFFF"/>
                    </a:solidFill>
                  </a:tcPr>
                </a:tc>
              </a:tr>
            </a:tbl>
          </a:graphicData>
        </a:graphic>
      </p:graphicFrame>
      <p:graphicFrame>
        <p:nvGraphicFramePr>
          <p:cNvPr id="9" name="Chart 0" descr=""/>
          <p:cNvGraphicFramePr/>
          <p:nvPr/>
        </p:nvGraphicFramePr>
        <p:xfrm>
          <a:off x="457200" y="3611880"/>
          <a:ext cx="4754880" cy="1188720"/>
        </p:xfrm>
        <a:graphic xmlns:a="http://schemas.openxmlformats.org/drawingml/2006/main">
          <a:graphicData uri="http://schemas.openxmlformats.org/drawingml/2006/chart">
            <c:chart xmlns:c="http://schemas.openxmlformats.org/drawingml/2006/chart" r:id="rId1"/>
          </a:graphicData>
        </a:graphic>
      </p:graphicFrame>
      <p:sp>
        <p:nvSpPr>
          <p:cNvPr id="10" name="Text 6"/>
          <p:cNvSpPr txBox="1"/>
          <p:nvPr/>
        </p:nvSpPr>
        <p:spPr>
          <a:xfrm>
            <a:off x="5394960" y="3657600"/>
            <a:ext cx="3291840" cy="1005840"/>
          </a:xfrm>
          <a:prstGeom prst="rect">
            <a:avLst/>
          </a:prstGeom>
          <a:noFill/>
          <a:ln/>
        </p:spPr>
        <p:txBody>
          <a:bodyPr wrap="square" lIns="0" tIns="0" rIns="0" bIns="0" rtlCol="0" anchor="t"/>
          <a:lstStyle/>
          <a:p>
            <a:pPr indent="0" marL="0">
              <a:buNone/>
            </a:pPr>
            <a:r>
              <a:rPr lang="en-US" sz="1100" i="1" dirty="0">
                <a:solidFill>
                  <a:srgbClr val="56627A"/>
                </a:solidFill>
                <a:latin typeface="Calibri" pitchFamily="34" charset="0"/>
                <a:ea typeface="Calibri" pitchFamily="34" charset="-122"/>
                <a:cs typeface="Calibri" pitchFamily="34" charset="-120"/>
              </a:rPr>
              <a:t>Model: Gemini 3.5 Flash. Test set: our four sample photos, one per category. This is a demonstration, not an accuracy study.</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07010"/>
          </a:solidFill>
          <a:ln w="12700">
            <a:solidFill>
              <a:srgbClr val="E07010"/>
            </a:solidFill>
            <a:prstDash val="solid"/>
          </a:ln>
        </p:spPr>
      </p:sp>
      <p:sp>
        <p:nvSpPr>
          <p:cNvPr id="3" name="Text 1"/>
          <p:cNvSpPr txBox="1"/>
          <p:nvPr/>
        </p:nvSpPr>
        <p:spPr>
          <a:xfrm>
            <a:off x="457200" y="201168"/>
            <a:ext cx="6400800" cy="228600"/>
          </a:xfrm>
          <a:prstGeom prst="rect">
            <a:avLst/>
          </a:prstGeom>
          <a:noFill/>
          <a:ln/>
        </p:spPr>
        <p:txBody>
          <a:bodyPr wrap="square" lIns="0" tIns="0" rIns="0" bIns="0" rtlCol="0" anchor="ctr"/>
          <a:lstStyle/>
          <a:p>
            <a:pPr indent="0" marL="0">
              <a:buNone/>
            </a:pPr>
            <a:r>
              <a:rPr lang="en-US" sz="1050" b="1" spc="200" kern="0" dirty="0">
                <a:solidFill>
                  <a:srgbClr val="E07010"/>
                </a:solidFill>
                <a:latin typeface="Calibri" pitchFamily="34" charset="0"/>
                <a:ea typeface="Calibri" pitchFamily="34" charset="-122"/>
                <a:cs typeface="Calibri" pitchFamily="34" charset="-120"/>
              </a:rPr>
              <a:t>TECHNOLOGY</a:t>
            </a:r>
            <a:endParaRPr lang="en-US" sz="1050" dirty="0"/>
          </a:p>
        </p:txBody>
      </p:sp>
      <p:sp>
        <p:nvSpPr>
          <p:cNvPr id="4" name="Text 2"/>
          <p:cNvSpPr txBox="1"/>
          <p:nvPr/>
        </p:nvSpPr>
        <p:spPr>
          <a:xfrm>
            <a:off x="457200" y="429768"/>
            <a:ext cx="8229600" cy="685800"/>
          </a:xfrm>
          <a:prstGeom prst="rect">
            <a:avLst/>
          </a:prstGeom>
          <a:noFill/>
          <a:ln/>
        </p:spPr>
        <p:txBody>
          <a:bodyPr wrap="square" lIns="0" tIns="0" rIns="0" bIns="0" rtlCol="0" anchor="t"/>
          <a:lstStyle/>
          <a:p>
            <a:pPr indent="0" marL="0">
              <a:buNone/>
            </a:pPr>
            <a:r>
              <a:rPr lang="en-US" sz="2300" b="1" dirty="0">
                <a:solidFill>
                  <a:srgbClr val="153E7C"/>
                </a:solidFill>
                <a:latin typeface="Calibri" pitchFamily="34" charset="0"/>
                <a:ea typeface="Calibri" pitchFamily="34" charset="-122"/>
                <a:cs typeface="Calibri" pitchFamily="34" charset="-120"/>
              </a:rPr>
              <a:t>Architecture: simple, deployable on one small server</a:t>
            </a:r>
            <a:endParaRPr lang="en-US" sz="2300" dirty="0"/>
          </a:p>
        </p:txBody>
      </p:sp>
      <p:sp>
        <p:nvSpPr>
          <p:cNvPr id="5" name="Text 3"/>
          <p:cNvSpPr txBox="1"/>
          <p:nvPr/>
        </p:nvSpPr>
        <p:spPr>
          <a:xfrm>
            <a:off x="457200" y="4828032"/>
            <a:ext cx="4572000" cy="201168"/>
          </a:xfrm>
          <a:prstGeom prst="rect">
            <a:avLst/>
          </a:prstGeom>
          <a:noFill/>
          <a:ln/>
        </p:spPr>
        <p:txBody>
          <a:bodyPr wrap="square" lIns="0" tIns="0" rIns="0" bIns="0" rtlCol="0" anchor="ctr"/>
          <a:lstStyle/>
          <a:p>
            <a:pPr indent="0" marL="0">
              <a:buNone/>
            </a:pPr>
            <a:r>
              <a:rPr lang="en-US" sz="900" dirty="0">
                <a:solidFill>
                  <a:srgbClr val="56627A"/>
                </a:solidFill>
                <a:latin typeface="Calibri" pitchFamily="34" charset="0"/>
                <a:ea typeface="Calibri" pitchFamily="34" charset="-122"/>
                <a:cs typeface="Calibri" pitchFamily="34" charset="-120"/>
              </a:rPr>
              <a:t>Chaukas AI  |  Team Shivay</a:t>
            </a:r>
            <a:endParaRPr lang="en-US" sz="900" dirty="0"/>
          </a:p>
        </p:txBody>
      </p:sp>
      <p:sp>
        <p:nvSpPr>
          <p:cNvPr id="6" name="Text 4"/>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56627A"/>
                </a:solidFill>
                <a:latin typeface="Calibri" pitchFamily="34" charset="0"/>
                <a:ea typeface="Calibri" pitchFamily="34" charset="-122"/>
                <a:cs typeface="Calibri" pitchFamily="34" charset="-120"/>
              </a:rPr>
              <a:t>12</a:t>
            </a:r>
            <a:endParaRPr lang="en-US" sz="900" dirty="0"/>
          </a:p>
        </p:txBody>
      </p:sp>
      <p:sp>
        <p:nvSpPr>
          <p:cNvPr id="7" name="Text 5"/>
          <p:cNvSpPr txBox="1"/>
          <p:nvPr/>
        </p:nvSpPr>
        <p:spPr>
          <a:xfrm>
            <a:off x="5669280" y="201168"/>
            <a:ext cx="3017520" cy="228600"/>
          </a:xfrm>
          <a:prstGeom prst="rect">
            <a:avLst/>
          </a:prstGeom>
          <a:noFill/>
          <a:ln/>
        </p:spPr>
        <p:txBody>
          <a:bodyPr wrap="square" lIns="0" tIns="0" rIns="0" bIns="0" rtlCol="0" anchor="ctr"/>
          <a:lstStyle/>
          <a:p>
            <a:pPr algn="r" indent="0" marL="0">
              <a:buNone/>
            </a:pPr>
            <a:r>
              <a:rPr lang="en-US" sz="950" dirty="0">
                <a:solidFill>
                  <a:srgbClr val="56627A"/>
                </a:solidFill>
                <a:latin typeface="Calibri" pitchFamily="34" charset="0"/>
                <a:ea typeface="Calibri" pitchFamily="34" charset="-122"/>
                <a:cs typeface="Calibri" pitchFamily="34" charset="-120"/>
              </a:rPr>
              <a:t>Presents: Smriti</a:t>
            </a:r>
            <a:endParaRPr lang="en-US" sz="950" dirty="0"/>
          </a:p>
        </p:txBody>
      </p:sp>
      <p:sp>
        <p:nvSpPr>
          <p:cNvPr id="8" name="Shape 6"/>
          <p:cNvSpPr/>
          <p:nvPr/>
        </p:nvSpPr>
        <p:spPr>
          <a:xfrm>
            <a:off x="457200" y="1325880"/>
            <a:ext cx="2651760" cy="1097280"/>
          </a:xfrm>
          <a:prstGeom prst="rect">
            <a:avLst/>
          </a:prstGeom>
          <a:solidFill>
            <a:srgbClr val="FFFFFF"/>
          </a:solidFill>
          <a:ln w="9525">
            <a:solidFill>
              <a:srgbClr val="D9DEE7"/>
            </a:solidFill>
            <a:prstDash val="solid"/>
          </a:ln>
        </p:spPr>
      </p:sp>
      <p:sp>
        <p:nvSpPr>
          <p:cNvPr id="9" name="Text 7"/>
          <p:cNvSpPr txBox="1"/>
          <p:nvPr/>
        </p:nvSpPr>
        <p:spPr>
          <a:xfrm>
            <a:off x="594360" y="1389888"/>
            <a:ext cx="2377440" cy="320040"/>
          </a:xfrm>
          <a:prstGeom prst="rect">
            <a:avLst/>
          </a:prstGeom>
          <a:noFill/>
          <a:ln/>
        </p:spPr>
        <p:txBody>
          <a:bodyPr wrap="square" lIns="0" tIns="0" rIns="0" bIns="0" rtlCol="0" anchor="ctr"/>
          <a:lstStyle/>
          <a:p>
            <a:pPr indent="0" marL="0">
              <a:buNone/>
            </a:pPr>
            <a:r>
              <a:rPr lang="en-US" sz="1400" b="1" dirty="0">
                <a:solidFill>
                  <a:srgbClr val="153E7C"/>
                </a:solidFill>
                <a:latin typeface="Calibri" pitchFamily="34" charset="0"/>
                <a:ea typeface="Calibri" pitchFamily="34" charset="-122"/>
                <a:cs typeface="Calibri" pitchFamily="34" charset="-120"/>
              </a:rPr>
              <a:t>Citizen app / website</a:t>
            </a:r>
            <a:endParaRPr lang="en-US" sz="1400" dirty="0"/>
          </a:p>
        </p:txBody>
      </p:sp>
      <p:sp>
        <p:nvSpPr>
          <p:cNvPr id="10" name="Text 8"/>
          <p:cNvSpPr txBox="1"/>
          <p:nvPr/>
        </p:nvSpPr>
        <p:spPr>
          <a:xfrm>
            <a:off x="594360" y="1719072"/>
            <a:ext cx="2377440" cy="640080"/>
          </a:xfrm>
          <a:prstGeom prst="rect">
            <a:avLst/>
          </a:prstGeom>
          <a:noFill/>
          <a:ln/>
        </p:spPr>
        <p:txBody>
          <a:bodyPr wrap="square" lIns="0" tIns="0" rIns="0" bIns="0" rtlCol="0" anchor="t"/>
          <a:lstStyle/>
          <a:p>
            <a:pPr indent="0" marL="0">
              <a:buNone/>
            </a:pPr>
            <a:r>
              <a:rPr lang="en-US" sz="1100" dirty="0">
                <a:solidFill>
                  <a:srgbClr val="172033"/>
                </a:solidFill>
                <a:latin typeface="Calibri" pitchFamily="34" charset="0"/>
                <a:ea typeface="Calibri" pitchFamily="34" charset="-122"/>
                <a:cs typeface="Calibri" pitchFamily="34" charset="-120"/>
              </a:rPr>
              <a:t>React + Vite + Tailwind, PWA, Hindi and English</a:t>
            </a:r>
            <a:endParaRPr lang="en-US" sz="1100" dirty="0"/>
          </a:p>
        </p:txBody>
      </p:sp>
      <p:sp>
        <p:nvSpPr>
          <p:cNvPr id="11" name="Shape 9"/>
          <p:cNvSpPr/>
          <p:nvPr/>
        </p:nvSpPr>
        <p:spPr>
          <a:xfrm>
            <a:off x="3246120" y="1325880"/>
            <a:ext cx="2651760" cy="1097280"/>
          </a:xfrm>
          <a:prstGeom prst="rect">
            <a:avLst/>
          </a:prstGeom>
          <a:solidFill>
            <a:srgbClr val="FFFFFF"/>
          </a:solidFill>
          <a:ln w="9525">
            <a:solidFill>
              <a:srgbClr val="D9DEE7"/>
            </a:solidFill>
            <a:prstDash val="solid"/>
          </a:ln>
        </p:spPr>
      </p:sp>
      <p:sp>
        <p:nvSpPr>
          <p:cNvPr id="12" name="Text 10"/>
          <p:cNvSpPr txBox="1"/>
          <p:nvPr/>
        </p:nvSpPr>
        <p:spPr>
          <a:xfrm>
            <a:off x="3383280" y="1389888"/>
            <a:ext cx="2377440" cy="320040"/>
          </a:xfrm>
          <a:prstGeom prst="rect">
            <a:avLst/>
          </a:prstGeom>
          <a:noFill/>
          <a:ln/>
        </p:spPr>
        <p:txBody>
          <a:bodyPr wrap="square" lIns="0" tIns="0" rIns="0" bIns="0" rtlCol="0" anchor="ctr"/>
          <a:lstStyle/>
          <a:p>
            <a:pPr indent="0" marL="0">
              <a:buNone/>
            </a:pPr>
            <a:r>
              <a:rPr lang="en-US" sz="1400" b="1" dirty="0">
                <a:solidFill>
                  <a:srgbClr val="153E7C"/>
                </a:solidFill>
                <a:latin typeface="Calibri" pitchFamily="34" charset="0"/>
                <a:ea typeface="Calibri" pitchFamily="34" charset="-122"/>
                <a:cs typeface="Calibri" pitchFamily="34" charset="-120"/>
              </a:rPr>
              <a:t>API</a:t>
            </a:r>
            <a:endParaRPr lang="en-US" sz="1400" dirty="0"/>
          </a:p>
        </p:txBody>
      </p:sp>
      <p:sp>
        <p:nvSpPr>
          <p:cNvPr id="13" name="Text 11"/>
          <p:cNvSpPr txBox="1"/>
          <p:nvPr/>
        </p:nvSpPr>
        <p:spPr>
          <a:xfrm>
            <a:off x="3383280" y="1719072"/>
            <a:ext cx="2377440" cy="640080"/>
          </a:xfrm>
          <a:prstGeom prst="rect">
            <a:avLst/>
          </a:prstGeom>
          <a:noFill/>
          <a:ln/>
        </p:spPr>
        <p:txBody>
          <a:bodyPr wrap="square" lIns="0" tIns="0" rIns="0" bIns="0" rtlCol="0" anchor="t"/>
          <a:lstStyle/>
          <a:p>
            <a:pPr indent="0" marL="0">
              <a:buNone/>
            </a:pPr>
            <a:r>
              <a:rPr lang="en-US" sz="1100" dirty="0">
                <a:solidFill>
                  <a:srgbClr val="172033"/>
                </a:solidFill>
                <a:latin typeface="Calibri" pitchFamily="34" charset="0"/>
                <a:ea typeface="Calibri" pitchFamily="34" charset="-122"/>
                <a:cs typeface="Calibri" pitchFamily="34" charset="-120"/>
              </a:rPr>
              <a:t>FastAPI (Python), rate limits, JWT admin</a:t>
            </a:r>
            <a:endParaRPr lang="en-US" sz="1100" dirty="0"/>
          </a:p>
        </p:txBody>
      </p:sp>
      <p:sp>
        <p:nvSpPr>
          <p:cNvPr id="14" name="Shape 12"/>
          <p:cNvSpPr/>
          <p:nvPr/>
        </p:nvSpPr>
        <p:spPr>
          <a:xfrm>
            <a:off x="6035040" y="1325880"/>
            <a:ext cx="2651760" cy="1097280"/>
          </a:xfrm>
          <a:prstGeom prst="rect">
            <a:avLst/>
          </a:prstGeom>
          <a:solidFill>
            <a:srgbClr val="FFFFFF"/>
          </a:solidFill>
          <a:ln w="9525">
            <a:solidFill>
              <a:srgbClr val="D9DEE7"/>
            </a:solidFill>
            <a:prstDash val="solid"/>
          </a:ln>
        </p:spPr>
      </p:sp>
      <p:sp>
        <p:nvSpPr>
          <p:cNvPr id="15" name="Text 13"/>
          <p:cNvSpPr txBox="1"/>
          <p:nvPr/>
        </p:nvSpPr>
        <p:spPr>
          <a:xfrm>
            <a:off x="6172200" y="1389888"/>
            <a:ext cx="2377440" cy="320040"/>
          </a:xfrm>
          <a:prstGeom prst="rect">
            <a:avLst/>
          </a:prstGeom>
          <a:noFill/>
          <a:ln/>
        </p:spPr>
        <p:txBody>
          <a:bodyPr wrap="square" lIns="0" tIns="0" rIns="0" bIns="0" rtlCol="0" anchor="ctr"/>
          <a:lstStyle/>
          <a:p>
            <a:pPr indent="0" marL="0">
              <a:buNone/>
            </a:pPr>
            <a:r>
              <a:rPr lang="en-US" sz="1400" b="1" dirty="0">
                <a:solidFill>
                  <a:srgbClr val="153E7C"/>
                </a:solidFill>
                <a:latin typeface="Calibri" pitchFamily="34" charset="0"/>
                <a:ea typeface="Calibri" pitchFamily="34" charset="-122"/>
                <a:cs typeface="Calibri" pitchFamily="34" charset="-120"/>
              </a:rPr>
              <a:t>Vision agent</a:t>
            </a:r>
            <a:endParaRPr lang="en-US" sz="1400" dirty="0"/>
          </a:p>
        </p:txBody>
      </p:sp>
      <p:sp>
        <p:nvSpPr>
          <p:cNvPr id="16" name="Text 14"/>
          <p:cNvSpPr txBox="1"/>
          <p:nvPr/>
        </p:nvSpPr>
        <p:spPr>
          <a:xfrm>
            <a:off x="6172200" y="1719072"/>
            <a:ext cx="2377440" cy="640080"/>
          </a:xfrm>
          <a:prstGeom prst="rect">
            <a:avLst/>
          </a:prstGeom>
          <a:noFill/>
          <a:ln/>
        </p:spPr>
        <p:txBody>
          <a:bodyPr wrap="square" lIns="0" tIns="0" rIns="0" bIns="0" rtlCol="0" anchor="t"/>
          <a:lstStyle/>
          <a:p>
            <a:pPr indent="0" marL="0">
              <a:buNone/>
            </a:pPr>
            <a:r>
              <a:rPr lang="en-US" sz="1100" dirty="0">
                <a:solidFill>
                  <a:srgbClr val="172033"/>
                </a:solidFill>
                <a:latin typeface="Calibri" pitchFamily="34" charset="0"/>
                <a:ea typeface="Calibri" pitchFamily="34" charset="-122"/>
                <a:cs typeface="Calibri" pitchFamily="34" charset="-120"/>
              </a:rPr>
              <a:t>Gemini 3.5 Flash through KodeKey, one structured call</a:t>
            </a:r>
            <a:endParaRPr lang="en-US" sz="1100" dirty="0"/>
          </a:p>
        </p:txBody>
      </p:sp>
      <p:sp>
        <p:nvSpPr>
          <p:cNvPr id="17" name="Text 15"/>
          <p:cNvSpPr txBox="1"/>
          <p:nvPr/>
        </p:nvSpPr>
        <p:spPr>
          <a:xfrm>
            <a:off x="3127248" y="1645920"/>
            <a:ext cx="137160" cy="365760"/>
          </a:xfrm>
          <a:prstGeom prst="rect">
            <a:avLst/>
          </a:prstGeom>
          <a:noFill/>
          <a:ln/>
        </p:spPr>
        <p:txBody>
          <a:bodyPr wrap="square" lIns="0" tIns="0" rIns="0" bIns="0" rtlCol="0" anchor="ctr"/>
          <a:lstStyle/>
          <a:p>
            <a:pPr algn="ctr" indent="0" marL="0">
              <a:buNone/>
            </a:pPr>
            <a:r>
              <a:rPr lang="en-US" sz="2000" b="1" dirty="0">
                <a:solidFill>
                  <a:srgbClr val="E07010"/>
                </a:solidFill>
                <a:latin typeface="Calibri" pitchFamily="34" charset="0"/>
                <a:ea typeface="Calibri" pitchFamily="34" charset="-122"/>
                <a:cs typeface="Calibri" pitchFamily="34" charset="-120"/>
              </a:rPr>
              <a:t>&gt;</a:t>
            </a:r>
            <a:endParaRPr lang="en-US" sz="2000" dirty="0"/>
          </a:p>
        </p:txBody>
      </p:sp>
      <p:sp>
        <p:nvSpPr>
          <p:cNvPr id="18" name="Text 16"/>
          <p:cNvSpPr txBox="1"/>
          <p:nvPr/>
        </p:nvSpPr>
        <p:spPr>
          <a:xfrm>
            <a:off x="5916168" y="1645920"/>
            <a:ext cx="137160" cy="365760"/>
          </a:xfrm>
          <a:prstGeom prst="rect">
            <a:avLst/>
          </a:prstGeom>
          <a:noFill/>
          <a:ln/>
        </p:spPr>
        <p:txBody>
          <a:bodyPr wrap="square" lIns="0" tIns="0" rIns="0" bIns="0" rtlCol="0" anchor="ctr"/>
          <a:lstStyle/>
          <a:p>
            <a:pPr algn="ctr" indent="0" marL="0">
              <a:buNone/>
            </a:pPr>
            <a:r>
              <a:rPr lang="en-US" sz="2000" b="1" dirty="0">
                <a:solidFill>
                  <a:srgbClr val="E07010"/>
                </a:solidFill>
                <a:latin typeface="Calibri" pitchFamily="34" charset="0"/>
                <a:ea typeface="Calibri" pitchFamily="34" charset="-122"/>
                <a:cs typeface="Calibri" pitchFamily="34" charset="-120"/>
              </a:rPr>
              <a:t>&gt;</a:t>
            </a:r>
            <a:endParaRPr lang="en-US" sz="2000" dirty="0"/>
          </a:p>
        </p:txBody>
      </p:sp>
      <p:sp>
        <p:nvSpPr>
          <p:cNvPr id="19" name="Shape 17"/>
          <p:cNvSpPr/>
          <p:nvPr/>
        </p:nvSpPr>
        <p:spPr>
          <a:xfrm>
            <a:off x="457200" y="2697480"/>
            <a:ext cx="2651760" cy="1097280"/>
          </a:xfrm>
          <a:prstGeom prst="rect">
            <a:avLst/>
          </a:prstGeom>
          <a:solidFill>
            <a:srgbClr val="FFFFFF"/>
          </a:solidFill>
          <a:ln w="9525">
            <a:solidFill>
              <a:srgbClr val="D9DEE7"/>
            </a:solidFill>
            <a:prstDash val="solid"/>
          </a:ln>
        </p:spPr>
      </p:sp>
      <p:sp>
        <p:nvSpPr>
          <p:cNvPr id="20" name="Text 18"/>
          <p:cNvSpPr txBox="1"/>
          <p:nvPr/>
        </p:nvSpPr>
        <p:spPr>
          <a:xfrm>
            <a:off x="594360" y="2761488"/>
            <a:ext cx="2377440" cy="320040"/>
          </a:xfrm>
          <a:prstGeom prst="rect">
            <a:avLst/>
          </a:prstGeom>
          <a:noFill/>
          <a:ln/>
        </p:spPr>
        <p:txBody>
          <a:bodyPr wrap="square" lIns="0" tIns="0" rIns="0" bIns="0" rtlCol="0" anchor="ctr"/>
          <a:lstStyle/>
          <a:p>
            <a:pPr indent="0" marL="0">
              <a:buNone/>
            </a:pPr>
            <a:r>
              <a:rPr lang="en-US" sz="1400" b="1" dirty="0">
                <a:solidFill>
                  <a:srgbClr val="153E7C"/>
                </a:solidFill>
                <a:latin typeface="Calibri" pitchFamily="34" charset="0"/>
                <a:ea typeface="Calibri" pitchFamily="34" charset="-122"/>
                <a:cs typeface="Calibri" pitchFamily="34" charset="-120"/>
              </a:rPr>
              <a:t>MongoDB Atlas</a:t>
            </a:r>
            <a:endParaRPr lang="en-US" sz="1400" dirty="0"/>
          </a:p>
        </p:txBody>
      </p:sp>
      <p:sp>
        <p:nvSpPr>
          <p:cNvPr id="21" name="Text 19"/>
          <p:cNvSpPr txBox="1"/>
          <p:nvPr/>
        </p:nvSpPr>
        <p:spPr>
          <a:xfrm>
            <a:off x="594360" y="3090672"/>
            <a:ext cx="2377440" cy="685800"/>
          </a:xfrm>
          <a:prstGeom prst="rect">
            <a:avLst/>
          </a:prstGeom>
          <a:noFill/>
          <a:ln/>
        </p:spPr>
        <p:txBody>
          <a:bodyPr wrap="square" lIns="0" tIns="0" rIns="0" bIns="0" rtlCol="0" anchor="t"/>
          <a:lstStyle/>
          <a:p>
            <a:pPr indent="0" marL="0">
              <a:buNone/>
            </a:pPr>
            <a:r>
              <a:rPr lang="en-US" sz="1100" dirty="0">
                <a:solidFill>
                  <a:srgbClr val="172033"/>
                </a:solidFill>
                <a:latin typeface="Calibri" pitchFamily="34" charset="0"/>
                <a:ea typeface="Calibri" pitchFamily="34" charset="-122"/>
                <a:cs typeface="Calibri" pitchFamily="34" charset="-120"/>
              </a:rPr>
              <a:t>Complaints, audit log, images; local-file fallback keeps the demo alive</a:t>
            </a:r>
            <a:endParaRPr lang="en-US" sz="1100" dirty="0"/>
          </a:p>
        </p:txBody>
      </p:sp>
      <p:sp>
        <p:nvSpPr>
          <p:cNvPr id="22" name="Shape 20"/>
          <p:cNvSpPr/>
          <p:nvPr/>
        </p:nvSpPr>
        <p:spPr>
          <a:xfrm>
            <a:off x="3246120" y="2697480"/>
            <a:ext cx="2651760" cy="1097280"/>
          </a:xfrm>
          <a:prstGeom prst="rect">
            <a:avLst/>
          </a:prstGeom>
          <a:solidFill>
            <a:srgbClr val="FFFFFF"/>
          </a:solidFill>
          <a:ln w="9525">
            <a:solidFill>
              <a:srgbClr val="D9DEE7"/>
            </a:solidFill>
            <a:prstDash val="solid"/>
          </a:ln>
        </p:spPr>
      </p:sp>
      <p:sp>
        <p:nvSpPr>
          <p:cNvPr id="23" name="Text 21"/>
          <p:cNvSpPr txBox="1"/>
          <p:nvPr/>
        </p:nvSpPr>
        <p:spPr>
          <a:xfrm>
            <a:off x="3383280" y="2761488"/>
            <a:ext cx="2377440" cy="320040"/>
          </a:xfrm>
          <a:prstGeom prst="rect">
            <a:avLst/>
          </a:prstGeom>
          <a:noFill/>
          <a:ln/>
        </p:spPr>
        <p:txBody>
          <a:bodyPr wrap="square" lIns="0" tIns="0" rIns="0" bIns="0" rtlCol="0" anchor="ctr"/>
          <a:lstStyle/>
          <a:p>
            <a:pPr indent="0" marL="0">
              <a:buNone/>
            </a:pPr>
            <a:r>
              <a:rPr lang="en-US" sz="1400" b="1" dirty="0">
                <a:solidFill>
                  <a:srgbClr val="153E7C"/>
                </a:solidFill>
                <a:latin typeface="Calibri" pitchFamily="34" charset="0"/>
                <a:ea typeface="Calibri" pitchFamily="34" charset="-122"/>
                <a:cs typeface="Calibri" pitchFamily="34" charset="-120"/>
              </a:rPr>
              <a:t>OpenStreetMap (Overpass)</a:t>
            </a:r>
            <a:endParaRPr lang="en-US" sz="1400" dirty="0"/>
          </a:p>
        </p:txBody>
      </p:sp>
      <p:sp>
        <p:nvSpPr>
          <p:cNvPr id="24" name="Text 22"/>
          <p:cNvSpPr txBox="1"/>
          <p:nvPr/>
        </p:nvSpPr>
        <p:spPr>
          <a:xfrm>
            <a:off x="3383280" y="3090672"/>
            <a:ext cx="2377440" cy="685800"/>
          </a:xfrm>
          <a:prstGeom prst="rect">
            <a:avLst/>
          </a:prstGeom>
          <a:noFill/>
          <a:ln/>
        </p:spPr>
        <p:txBody>
          <a:bodyPr wrap="square" lIns="0" tIns="0" rIns="0" bIns="0" rtlCol="0" anchor="t"/>
          <a:lstStyle/>
          <a:p>
            <a:pPr indent="0" marL="0">
              <a:buNone/>
            </a:pPr>
            <a:r>
              <a:rPr lang="en-US" sz="1100" dirty="0">
                <a:solidFill>
                  <a:srgbClr val="172033"/>
                </a:solidFill>
                <a:latin typeface="Calibri" pitchFamily="34" charset="0"/>
                <a:ea typeface="Calibri" pitchFamily="34" charset="-122"/>
                <a:cs typeface="Calibri" pitchFamily="34" charset="-120"/>
              </a:rPr>
              <a:t>School, hospital, road class near the spot; 3.5 s timeout</a:t>
            </a:r>
            <a:endParaRPr lang="en-US" sz="1100" dirty="0"/>
          </a:p>
        </p:txBody>
      </p:sp>
      <p:sp>
        <p:nvSpPr>
          <p:cNvPr id="25" name="Shape 23"/>
          <p:cNvSpPr/>
          <p:nvPr/>
        </p:nvSpPr>
        <p:spPr>
          <a:xfrm>
            <a:off x="6035040" y="2697480"/>
            <a:ext cx="2651760" cy="1097280"/>
          </a:xfrm>
          <a:prstGeom prst="rect">
            <a:avLst/>
          </a:prstGeom>
          <a:solidFill>
            <a:srgbClr val="FFFFFF"/>
          </a:solidFill>
          <a:ln w="9525">
            <a:solidFill>
              <a:srgbClr val="D9DEE7"/>
            </a:solidFill>
            <a:prstDash val="solid"/>
          </a:ln>
        </p:spPr>
      </p:sp>
      <p:sp>
        <p:nvSpPr>
          <p:cNvPr id="26" name="Text 24"/>
          <p:cNvSpPr txBox="1"/>
          <p:nvPr/>
        </p:nvSpPr>
        <p:spPr>
          <a:xfrm>
            <a:off x="6172200" y="2761488"/>
            <a:ext cx="2377440" cy="320040"/>
          </a:xfrm>
          <a:prstGeom prst="rect">
            <a:avLst/>
          </a:prstGeom>
          <a:noFill/>
          <a:ln/>
        </p:spPr>
        <p:txBody>
          <a:bodyPr wrap="square" lIns="0" tIns="0" rIns="0" bIns="0" rtlCol="0" anchor="ctr"/>
          <a:lstStyle/>
          <a:p>
            <a:pPr indent="0" marL="0">
              <a:buNone/>
            </a:pPr>
            <a:r>
              <a:rPr lang="en-US" sz="1400" b="1" dirty="0">
                <a:solidFill>
                  <a:srgbClr val="153E7C"/>
                </a:solidFill>
                <a:latin typeface="Calibri" pitchFamily="34" charset="0"/>
                <a:ea typeface="Calibri" pitchFamily="34" charset="-122"/>
                <a:cs typeface="Calibri" pitchFamily="34" charset="-120"/>
              </a:rPr>
              <a:t>Dispatch hook</a:t>
            </a:r>
            <a:endParaRPr lang="en-US" sz="1400" dirty="0"/>
          </a:p>
        </p:txBody>
      </p:sp>
      <p:sp>
        <p:nvSpPr>
          <p:cNvPr id="27" name="Text 25"/>
          <p:cNvSpPr txBox="1"/>
          <p:nvPr/>
        </p:nvSpPr>
        <p:spPr>
          <a:xfrm>
            <a:off x="6172200" y="3090672"/>
            <a:ext cx="2377440" cy="685800"/>
          </a:xfrm>
          <a:prstGeom prst="rect">
            <a:avLst/>
          </a:prstGeom>
          <a:noFill/>
          <a:ln/>
        </p:spPr>
        <p:txBody>
          <a:bodyPr wrap="square" lIns="0" tIns="0" rIns="0" bIns="0" rtlCol="0" anchor="t"/>
          <a:lstStyle/>
          <a:p>
            <a:pPr indent="0" marL="0">
              <a:buNone/>
            </a:pPr>
            <a:r>
              <a:rPr lang="en-US" sz="1100" dirty="0">
                <a:solidFill>
                  <a:srgbClr val="172033"/>
                </a:solidFill>
                <a:latin typeface="Calibri" pitchFamily="34" charset="0"/>
                <a:ea typeface="Calibri" pitchFamily="34" charset="-122"/>
                <a:cs typeface="Calibri" pitchFamily="34" charset="-120"/>
              </a:rPr>
              <a:t>n8n / webhook for email or WhatsApp to the department</a:t>
            </a:r>
            <a:endParaRPr lang="en-US" sz="1100" dirty="0"/>
          </a:p>
        </p:txBody>
      </p:sp>
      <p:sp>
        <p:nvSpPr>
          <p:cNvPr id="28" name="Text 26"/>
          <p:cNvSpPr txBox="1"/>
          <p:nvPr/>
        </p:nvSpPr>
        <p:spPr>
          <a:xfrm>
            <a:off x="457200" y="4023360"/>
            <a:ext cx="8229600" cy="548640"/>
          </a:xfrm>
          <a:prstGeom prst="rect">
            <a:avLst/>
          </a:prstGeom>
          <a:noFill/>
          <a:ln/>
        </p:spPr>
        <p:txBody>
          <a:bodyPr wrap="square" lIns="0" tIns="0" rIns="0" bIns="0" rtlCol="0" anchor="ctr"/>
          <a:lstStyle/>
          <a:p>
            <a:pPr indent="0" marL="0">
              <a:buNone/>
            </a:pPr>
            <a:r>
              <a:rPr lang="en-US" sz="1250" dirty="0">
                <a:solidFill>
                  <a:srgbClr val="56627A"/>
                </a:solidFill>
                <a:latin typeface="Calibri" pitchFamily="34" charset="0"/>
                <a:ea typeface="Calibri" pitchFamily="34" charset="-122"/>
                <a:cs typeface="Calibri" pitchFamily="34" charset="-120"/>
              </a:rPr>
              <a:t>Why Gemini is not run on our laptop: it is a hosted model called through an API. The laptop only runs the web app and a light Python server.</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07010"/>
          </a:solidFill>
          <a:ln w="12700">
            <a:solidFill>
              <a:srgbClr val="E07010"/>
            </a:solidFill>
            <a:prstDash val="solid"/>
          </a:ln>
        </p:spPr>
      </p:sp>
      <p:sp>
        <p:nvSpPr>
          <p:cNvPr id="3" name="Text 1"/>
          <p:cNvSpPr txBox="1"/>
          <p:nvPr/>
        </p:nvSpPr>
        <p:spPr>
          <a:xfrm>
            <a:off x="457200" y="201168"/>
            <a:ext cx="6400800" cy="228600"/>
          </a:xfrm>
          <a:prstGeom prst="rect">
            <a:avLst/>
          </a:prstGeom>
          <a:noFill/>
          <a:ln/>
        </p:spPr>
        <p:txBody>
          <a:bodyPr wrap="square" lIns="0" tIns="0" rIns="0" bIns="0" rtlCol="0" anchor="ctr"/>
          <a:lstStyle/>
          <a:p>
            <a:pPr indent="0" marL="0">
              <a:buNone/>
            </a:pPr>
            <a:r>
              <a:rPr lang="en-US" sz="1050" b="1" spc="200" kern="0" dirty="0">
                <a:solidFill>
                  <a:srgbClr val="E07010"/>
                </a:solidFill>
                <a:latin typeface="Calibri" pitchFamily="34" charset="0"/>
                <a:ea typeface="Calibri" pitchFamily="34" charset="-122"/>
                <a:cs typeface="Calibri" pitchFamily="34" charset="-120"/>
              </a:rPr>
              <a:t>PATH TO ADOPTION (PROPOSAL, NOT YET VALIDATED)</a:t>
            </a:r>
            <a:endParaRPr lang="en-US" sz="1050" dirty="0"/>
          </a:p>
        </p:txBody>
      </p:sp>
      <p:sp>
        <p:nvSpPr>
          <p:cNvPr id="4" name="Text 2"/>
          <p:cNvSpPr txBox="1"/>
          <p:nvPr/>
        </p:nvSpPr>
        <p:spPr>
          <a:xfrm>
            <a:off x="457200" y="429768"/>
            <a:ext cx="8229600" cy="685800"/>
          </a:xfrm>
          <a:prstGeom prst="rect">
            <a:avLst/>
          </a:prstGeom>
          <a:noFill/>
          <a:ln/>
        </p:spPr>
        <p:txBody>
          <a:bodyPr wrap="square" lIns="0" tIns="0" rIns="0" bIns="0" rtlCol="0" anchor="t"/>
          <a:lstStyle/>
          <a:p>
            <a:pPr indent="0" marL="0">
              <a:buNone/>
            </a:pPr>
            <a:r>
              <a:rPr lang="en-US" sz="2300" b="1" dirty="0">
                <a:solidFill>
                  <a:srgbClr val="153E7C"/>
                </a:solidFill>
                <a:latin typeface="Calibri" pitchFamily="34" charset="0"/>
                <a:ea typeface="Calibri" pitchFamily="34" charset="-122"/>
                <a:cs typeface="Calibri" pitchFamily="34" charset="-120"/>
              </a:rPr>
              <a:t>Pilot plan and how this can sustain itself</a:t>
            </a:r>
            <a:endParaRPr lang="en-US" sz="2300" dirty="0"/>
          </a:p>
        </p:txBody>
      </p:sp>
      <p:sp>
        <p:nvSpPr>
          <p:cNvPr id="5" name="Text 3"/>
          <p:cNvSpPr txBox="1"/>
          <p:nvPr/>
        </p:nvSpPr>
        <p:spPr>
          <a:xfrm>
            <a:off x="457200" y="4828032"/>
            <a:ext cx="4572000" cy="201168"/>
          </a:xfrm>
          <a:prstGeom prst="rect">
            <a:avLst/>
          </a:prstGeom>
          <a:noFill/>
          <a:ln/>
        </p:spPr>
        <p:txBody>
          <a:bodyPr wrap="square" lIns="0" tIns="0" rIns="0" bIns="0" rtlCol="0" anchor="ctr"/>
          <a:lstStyle/>
          <a:p>
            <a:pPr indent="0" marL="0">
              <a:buNone/>
            </a:pPr>
            <a:r>
              <a:rPr lang="en-US" sz="900" dirty="0">
                <a:solidFill>
                  <a:srgbClr val="56627A"/>
                </a:solidFill>
                <a:latin typeface="Calibri" pitchFamily="34" charset="0"/>
                <a:ea typeface="Calibri" pitchFamily="34" charset="-122"/>
                <a:cs typeface="Calibri" pitchFamily="34" charset="-120"/>
              </a:rPr>
              <a:t>Chaukas AI  |  Team Shivay</a:t>
            </a:r>
            <a:endParaRPr lang="en-US" sz="900" dirty="0"/>
          </a:p>
        </p:txBody>
      </p:sp>
      <p:sp>
        <p:nvSpPr>
          <p:cNvPr id="6" name="Text 4"/>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56627A"/>
                </a:solidFill>
                <a:latin typeface="Calibri" pitchFamily="34" charset="0"/>
                <a:ea typeface="Calibri" pitchFamily="34" charset="-122"/>
                <a:cs typeface="Calibri" pitchFamily="34" charset="-120"/>
              </a:rPr>
              <a:t>13</a:t>
            </a:r>
            <a:endParaRPr lang="en-US" sz="900" dirty="0"/>
          </a:p>
        </p:txBody>
      </p:sp>
      <p:sp>
        <p:nvSpPr>
          <p:cNvPr id="7" name="Text 5"/>
          <p:cNvSpPr txBox="1"/>
          <p:nvPr/>
        </p:nvSpPr>
        <p:spPr>
          <a:xfrm>
            <a:off x="5669280" y="201168"/>
            <a:ext cx="3017520" cy="228600"/>
          </a:xfrm>
          <a:prstGeom prst="rect">
            <a:avLst/>
          </a:prstGeom>
          <a:noFill/>
          <a:ln/>
        </p:spPr>
        <p:txBody>
          <a:bodyPr wrap="square" lIns="0" tIns="0" rIns="0" bIns="0" rtlCol="0" anchor="ctr"/>
          <a:lstStyle/>
          <a:p>
            <a:pPr algn="r" indent="0" marL="0">
              <a:buNone/>
            </a:pPr>
            <a:r>
              <a:rPr lang="en-US" sz="950" dirty="0">
                <a:solidFill>
                  <a:srgbClr val="56627A"/>
                </a:solidFill>
                <a:latin typeface="Calibri" pitchFamily="34" charset="0"/>
                <a:ea typeface="Calibri" pitchFamily="34" charset="-122"/>
                <a:cs typeface="Calibri" pitchFamily="34" charset="-120"/>
              </a:rPr>
              <a:t>Presents: Nikhil</a:t>
            </a:r>
            <a:endParaRPr lang="en-US" sz="950" dirty="0"/>
          </a:p>
        </p:txBody>
      </p:sp>
      <p:sp>
        <p:nvSpPr>
          <p:cNvPr id="8" name="Shape 6"/>
          <p:cNvSpPr/>
          <p:nvPr/>
        </p:nvSpPr>
        <p:spPr>
          <a:xfrm>
            <a:off x="457200" y="1371600"/>
            <a:ext cx="2651760" cy="2194560"/>
          </a:xfrm>
          <a:prstGeom prst="rect">
            <a:avLst/>
          </a:prstGeom>
          <a:solidFill>
            <a:srgbClr val="FFFFFF"/>
          </a:solidFill>
          <a:ln w="9525">
            <a:solidFill>
              <a:srgbClr val="D9DEE7"/>
            </a:solidFill>
            <a:prstDash val="solid"/>
          </a:ln>
        </p:spPr>
      </p:sp>
      <p:sp>
        <p:nvSpPr>
          <p:cNvPr id="9" name="Shape 7"/>
          <p:cNvSpPr/>
          <p:nvPr/>
        </p:nvSpPr>
        <p:spPr>
          <a:xfrm>
            <a:off x="457200" y="1371600"/>
            <a:ext cx="2651760" cy="73152"/>
          </a:xfrm>
          <a:prstGeom prst="rect">
            <a:avLst/>
          </a:prstGeom>
          <a:solidFill>
            <a:srgbClr val="153E7C"/>
          </a:solidFill>
          <a:ln w="12700">
            <a:solidFill>
              <a:srgbClr val="FFFFFF"/>
            </a:solidFill>
            <a:prstDash val="solid"/>
          </a:ln>
        </p:spPr>
      </p:sp>
      <p:sp>
        <p:nvSpPr>
          <p:cNvPr id="10" name="Text 8"/>
          <p:cNvSpPr txBox="1"/>
          <p:nvPr/>
        </p:nvSpPr>
        <p:spPr>
          <a:xfrm>
            <a:off x="594360" y="1554480"/>
            <a:ext cx="2377440" cy="502920"/>
          </a:xfrm>
          <a:prstGeom prst="rect">
            <a:avLst/>
          </a:prstGeom>
          <a:noFill/>
          <a:ln/>
        </p:spPr>
        <p:txBody>
          <a:bodyPr wrap="square" lIns="0" tIns="0" rIns="0" bIns="0" rtlCol="0" anchor="t"/>
          <a:lstStyle/>
          <a:p>
            <a:pPr indent="0" marL="0">
              <a:buNone/>
            </a:pPr>
            <a:r>
              <a:rPr lang="en-US" sz="1400" b="1" dirty="0">
                <a:solidFill>
                  <a:srgbClr val="153E7C"/>
                </a:solidFill>
                <a:latin typeface="Calibri" pitchFamily="34" charset="0"/>
                <a:ea typeface="Calibri" pitchFamily="34" charset="-122"/>
                <a:cs typeface="Calibri" pitchFamily="34" charset="-120"/>
              </a:rPr>
              <a:t>Phase 1: Pilot (90 days)</a:t>
            </a:r>
            <a:endParaRPr lang="en-US" sz="1400" dirty="0"/>
          </a:p>
        </p:txBody>
      </p:sp>
      <p:sp>
        <p:nvSpPr>
          <p:cNvPr id="11" name="Text 9"/>
          <p:cNvSpPr txBox="1"/>
          <p:nvPr/>
        </p:nvSpPr>
        <p:spPr>
          <a:xfrm>
            <a:off x="594360" y="2103120"/>
            <a:ext cx="2377440" cy="1691640"/>
          </a:xfrm>
          <a:prstGeom prst="rect">
            <a:avLst/>
          </a:prstGeom>
          <a:noFill/>
          <a:ln/>
        </p:spPr>
        <p:txBody>
          <a:bodyPr wrap="square" lIns="0" tIns="0" rIns="0" bIns="0" rtlCol="0" anchor="t"/>
          <a:lstStyle/>
          <a:p>
            <a:pPr indent="0" marL="0">
              <a:buNone/>
            </a:pPr>
            <a:r>
              <a:rPr lang="en-US" sz="1200" dirty="0">
                <a:solidFill>
                  <a:srgbClr val="172033"/>
                </a:solidFill>
                <a:latin typeface="Calibri" pitchFamily="34" charset="0"/>
                <a:ea typeface="Calibri" pitchFamily="34" charset="-122"/>
                <a:cs typeface="Calibri" pitchFamily="34" charset="-120"/>
              </a:rPr>
              <a:t>One city, one or two departments, free. Success measures: time from report to assignment, repeat-complaint rate, share of cases closed with verified proof.</a:t>
            </a:r>
            <a:endParaRPr lang="en-US" sz="1200" dirty="0"/>
          </a:p>
        </p:txBody>
      </p:sp>
      <p:sp>
        <p:nvSpPr>
          <p:cNvPr id="12" name="Shape 10"/>
          <p:cNvSpPr/>
          <p:nvPr/>
        </p:nvSpPr>
        <p:spPr>
          <a:xfrm>
            <a:off x="3264408" y="1371600"/>
            <a:ext cx="2651760" cy="2194560"/>
          </a:xfrm>
          <a:prstGeom prst="rect">
            <a:avLst/>
          </a:prstGeom>
          <a:solidFill>
            <a:srgbClr val="FFFFFF"/>
          </a:solidFill>
          <a:ln w="9525">
            <a:solidFill>
              <a:srgbClr val="D9DEE7"/>
            </a:solidFill>
            <a:prstDash val="solid"/>
          </a:ln>
        </p:spPr>
      </p:sp>
      <p:sp>
        <p:nvSpPr>
          <p:cNvPr id="13" name="Shape 11"/>
          <p:cNvSpPr/>
          <p:nvPr/>
        </p:nvSpPr>
        <p:spPr>
          <a:xfrm>
            <a:off x="3264408" y="1371600"/>
            <a:ext cx="2651760" cy="73152"/>
          </a:xfrm>
          <a:prstGeom prst="rect">
            <a:avLst/>
          </a:prstGeom>
          <a:solidFill>
            <a:srgbClr val="E07010"/>
          </a:solidFill>
          <a:ln w="12700">
            <a:solidFill>
              <a:srgbClr val="FFFFFF"/>
            </a:solidFill>
            <a:prstDash val="solid"/>
          </a:ln>
        </p:spPr>
      </p:sp>
      <p:sp>
        <p:nvSpPr>
          <p:cNvPr id="14" name="Text 12"/>
          <p:cNvSpPr txBox="1"/>
          <p:nvPr/>
        </p:nvSpPr>
        <p:spPr>
          <a:xfrm>
            <a:off x="3401568" y="1554480"/>
            <a:ext cx="2377440" cy="502920"/>
          </a:xfrm>
          <a:prstGeom prst="rect">
            <a:avLst/>
          </a:prstGeom>
          <a:noFill/>
          <a:ln/>
        </p:spPr>
        <p:txBody>
          <a:bodyPr wrap="square" lIns="0" tIns="0" rIns="0" bIns="0" rtlCol="0" anchor="t"/>
          <a:lstStyle/>
          <a:p>
            <a:pPr indent="0" marL="0">
              <a:buNone/>
            </a:pPr>
            <a:r>
              <a:rPr lang="en-US" sz="1400" b="1" dirty="0">
                <a:solidFill>
                  <a:srgbClr val="153E7C"/>
                </a:solidFill>
                <a:latin typeface="Calibri" pitchFamily="34" charset="0"/>
                <a:ea typeface="Calibri" pitchFamily="34" charset="-122"/>
                <a:cs typeface="Calibri" pitchFamily="34" charset="-120"/>
              </a:rPr>
              <a:t>Phase 2: Department licence</a:t>
            </a:r>
            <a:endParaRPr lang="en-US" sz="1400" dirty="0"/>
          </a:p>
        </p:txBody>
      </p:sp>
      <p:sp>
        <p:nvSpPr>
          <p:cNvPr id="15" name="Text 13"/>
          <p:cNvSpPr txBox="1"/>
          <p:nvPr/>
        </p:nvSpPr>
        <p:spPr>
          <a:xfrm>
            <a:off x="3401568" y="2103120"/>
            <a:ext cx="2377440" cy="1691640"/>
          </a:xfrm>
          <a:prstGeom prst="rect">
            <a:avLst/>
          </a:prstGeom>
          <a:noFill/>
          <a:ln/>
        </p:spPr>
        <p:txBody>
          <a:bodyPr wrap="square" lIns="0" tIns="0" rIns="0" bIns="0" rtlCol="0" anchor="t"/>
          <a:lstStyle/>
          <a:p>
            <a:pPr indent="0" marL="0">
              <a:buNone/>
            </a:pPr>
            <a:r>
              <a:rPr lang="en-US" sz="1200" dirty="0">
                <a:solidFill>
                  <a:srgbClr val="172033"/>
                </a:solidFill>
                <a:latin typeface="Calibri" pitchFamily="34" charset="0"/>
                <a:ea typeface="Calibri" pitchFamily="34" charset="-122"/>
                <a:cs typeface="Calibri" pitchFamily="34" charset="-120"/>
              </a:rPr>
              <a:t>Per-department yearly subscription, priced by ward count, covering hosting, AI usage and support. Price to be set after the pilot.</a:t>
            </a:r>
            <a:endParaRPr lang="en-US" sz="1200" dirty="0"/>
          </a:p>
        </p:txBody>
      </p:sp>
      <p:sp>
        <p:nvSpPr>
          <p:cNvPr id="16" name="Shape 14"/>
          <p:cNvSpPr/>
          <p:nvPr/>
        </p:nvSpPr>
        <p:spPr>
          <a:xfrm>
            <a:off x="6071616" y="1371600"/>
            <a:ext cx="2651760" cy="2194560"/>
          </a:xfrm>
          <a:prstGeom prst="rect">
            <a:avLst/>
          </a:prstGeom>
          <a:solidFill>
            <a:srgbClr val="FFFFFF"/>
          </a:solidFill>
          <a:ln w="9525">
            <a:solidFill>
              <a:srgbClr val="D9DEE7"/>
            </a:solidFill>
            <a:prstDash val="solid"/>
          </a:ln>
        </p:spPr>
      </p:sp>
      <p:sp>
        <p:nvSpPr>
          <p:cNvPr id="17" name="Shape 15"/>
          <p:cNvSpPr/>
          <p:nvPr/>
        </p:nvSpPr>
        <p:spPr>
          <a:xfrm>
            <a:off x="6071616" y="1371600"/>
            <a:ext cx="2651760" cy="73152"/>
          </a:xfrm>
          <a:prstGeom prst="rect">
            <a:avLst/>
          </a:prstGeom>
          <a:solidFill>
            <a:srgbClr val="138808"/>
          </a:solidFill>
          <a:ln w="12700">
            <a:solidFill>
              <a:srgbClr val="FFFFFF"/>
            </a:solidFill>
            <a:prstDash val="solid"/>
          </a:ln>
        </p:spPr>
      </p:sp>
      <p:sp>
        <p:nvSpPr>
          <p:cNvPr id="18" name="Text 16"/>
          <p:cNvSpPr txBox="1"/>
          <p:nvPr/>
        </p:nvSpPr>
        <p:spPr>
          <a:xfrm>
            <a:off x="6208776" y="1554480"/>
            <a:ext cx="2377440" cy="502920"/>
          </a:xfrm>
          <a:prstGeom prst="rect">
            <a:avLst/>
          </a:prstGeom>
          <a:noFill/>
          <a:ln/>
        </p:spPr>
        <p:txBody>
          <a:bodyPr wrap="square" lIns="0" tIns="0" rIns="0" bIns="0" rtlCol="0" anchor="t"/>
          <a:lstStyle/>
          <a:p>
            <a:pPr indent="0" marL="0">
              <a:buNone/>
            </a:pPr>
            <a:r>
              <a:rPr lang="en-US" sz="1400" b="1" dirty="0">
                <a:solidFill>
                  <a:srgbClr val="153E7C"/>
                </a:solidFill>
                <a:latin typeface="Calibri" pitchFamily="34" charset="0"/>
                <a:ea typeface="Calibri" pitchFamily="34" charset="-122"/>
                <a:cs typeface="Calibri" pitchFamily="34" charset="-120"/>
              </a:rPr>
              <a:t>Phase 3: City rollout</a:t>
            </a:r>
            <a:endParaRPr lang="en-US" sz="1400" dirty="0"/>
          </a:p>
        </p:txBody>
      </p:sp>
      <p:sp>
        <p:nvSpPr>
          <p:cNvPr id="19" name="Text 17"/>
          <p:cNvSpPr txBox="1"/>
          <p:nvPr/>
        </p:nvSpPr>
        <p:spPr>
          <a:xfrm>
            <a:off x="6208776" y="2103120"/>
            <a:ext cx="2377440" cy="1691640"/>
          </a:xfrm>
          <a:prstGeom prst="rect">
            <a:avLst/>
          </a:prstGeom>
          <a:noFill/>
          <a:ln/>
        </p:spPr>
        <p:txBody>
          <a:bodyPr wrap="square" lIns="0" tIns="0" rIns="0" bIns="0" rtlCol="0" anchor="t"/>
          <a:lstStyle/>
          <a:p>
            <a:pPr indent="0" marL="0">
              <a:buNone/>
            </a:pPr>
            <a:r>
              <a:rPr lang="en-US" sz="1200" dirty="0">
                <a:solidFill>
                  <a:srgbClr val="172033"/>
                </a:solidFill>
                <a:latin typeface="Calibri" pitchFamily="34" charset="0"/>
                <a:ea typeface="Calibri" pitchFamily="34" charset="-122"/>
                <a:cs typeface="Calibri" pitchFamily="34" charset="-120"/>
              </a:rPr>
              <a:t>Add departments and wards; municipal dashboard for the commissioner; integration with existing helplines.</a:t>
            </a:r>
            <a:endParaRPr lang="en-US" sz="1200" dirty="0"/>
          </a:p>
        </p:txBody>
      </p:sp>
      <p:sp>
        <p:nvSpPr>
          <p:cNvPr id="20" name="Text 18"/>
          <p:cNvSpPr txBox="1"/>
          <p:nvPr/>
        </p:nvSpPr>
        <p:spPr>
          <a:xfrm>
            <a:off x="457200" y="3840480"/>
            <a:ext cx="8229600" cy="457200"/>
          </a:xfrm>
          <a:prstGeom prst="rect">
            <a:avLst/>
          </a:prstGeom>
          <a:noFill/>
          <a:ln/>
        </p:spPr>
        <p:txBody>
          <a:bodyPr wrap="square" lIns="0" tIns="0" rIns="0" bIns="0" rtlCol="0" anchor="ctr"/>
          <a:lstStyle/>
          <a:p>
            <a:pPr indent="0" marL="0">
              <a:buNone/>
            </a:pPr>
            <a:r>
              <a:rPr lang="en-US" sz="1250" i="1" dirty="0">
                <a:solidFill>
                  <a:srgbClr val="56627A"/>
                </a:solidFill>
                <a:latin typeface="Calibri" pitchFamily="34" charset="0"/>
                <a:ea typeface="Calibri" pitchFamily="34" charset="-122"/>
                <a:cs typeface="Calibri" pitchFamily="34" charset="-120"/>
              </a:rPr>
              <a:t>We have not signed any department yet. The plan above is what we would propose; the numbers will come from the pilot.</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07010"/>
          </a:solidFill>
          <a:ln w="12700">
            <a:solidFill>
              <a:srgbClr val="E07010"/>
            </a:solidFill>
            <a:prstDash val="solid"/>
          </a:ln>
        </p:spPr>
      </p:sp>
      <p:sp>
        <p:nvSpPr>
          <p:cNvPr id="3" name="Text 1"/>
          <p:cNvSpPr txBox="1"/>
          <p:nvPr/>
        </p:nvSpPr>
        <p:spPr>
          <a:xfrm>
            <a:off x="457200" y="201168"/>
            <a:ext cx="6400800" cy="228600"/>
          </a:xfrm>
          <a:prstGeom prst="rect">
            <a:avLst/>
          </a:prstGeom>
          <a:noFill/>
          <a:ln/>
        </p:spPr>
        <p:txBody>
          <a:bodyPr wrap="square" lIns="0" tIns="0" rIns="0" bIns="0" rtlCol="0" anchor="ctr"/>
          <a:lstStyle/>
          <a:p>
            <a:pPr indent="0" marL="0">
              <a:buNone/>
            </a:pPr>
            <a:r>
              <a:rPr lang="en-US" sz="1050" b="1" spc="200" kern="0" dirty="0">
                <a:solidFill>
                  <a:srgbClr val="E07010"/>
                </a:solidFill>
                <a:latin typeface="Calibri" pitchFamily="34" charset="0"/>
                <a:ea typeface="Calibri" pitchFamily="34" charset="-122"/>
                <a:cs typeface="Calibri" pitchFamily="34" charset="-120"/>
              </a:rPr>
              <a:t>HONEST LIMITATIONS AND ROADMAP</a:t>
            </a:r>
            <a:endParaRPr lang="en-US" sz="1050" dirty="0"/>
          </a:p>
        </p:txBody>
      </p:sp>
      <p:sp>
        <p:nvSpPr>
          <p:cNvPr id="4" name="Text 2"/>
          <p:cNvSpPr txBox="1"/>
          <p:nvPr/>
        </p:nvSpPr>
        <p:spPr>
          <a:xfrm>
            <a:off x="457200" y="429768"/>
            <a:ext cx="8229600" cy="685800"/>
          </a:xfrm>
          <a:prstGeom prst="rect">
            <a:avLst/>
          </a:prstGeom>
          <a:noFill/>
          <a:ln/>
        </p:spPr>
        <p:txBody>
          <a:bodyPr wrap="square" lIns="0" tIns="0" rIns="0" bIns="0" rtlCol="0" anchor="t"/>
          <a:lstStyle/>
          <a:p>
            <a:pPr indent="0" marL="0">
              <a:buNone/>
            </a:pPr>
            <a:r>
              <a:rPr lang="en-US" sz="2300" b="1" dirty="0">
                <a:solidFill>
                  <a:srgbClr val="153E7C"/>
                </a:solidFill>
                <a:latin typeface="Calibri" pitchFamily="34" charset="0"/>
                <a:ea typeface="Calibri" pitchFamily="34" charset="-122"/>
                <a:cs typeface="Calibri" pitchFamily="34" charset="-120"/>
              </a:rPr>
              <a:t>What is not done yet, and what we do next</a:t>
            </a:r>
            <a:endParaRPr lang="en-US" sz="2300" dirty="0"/>
          </a:p>
        </p:txBody>
      </p:sp>
      <p:sp>
        <p:nvSpPr>
          <p:cNvPr id="5" name="Text 3"/>
          <p:cNvSpPr txBox="1"/>
          <p:nvPr/>
        </p:nvSpPr>
        <p:spPr>
          <a:xfrm>
            <a:off x="457200" y="4828032"/>
            <a:ext cx="4572000" cy="201168"/>
          </a:xfrm>
          <a:prstGeom prst="rect">
            <a:avLst/>
          </a:prstGeom>
          <a:noFill/>
          <a:ln/>
        </p:spPr>
        <p:txBody>
          <a:bodyPr wrap="square" lIns="0" tIns="0" rIns="0" bIns="0" rtlCol="0" anchor="ctr"/>
          <a:lstStyle/>
          <a:p>
            <a:pPr indent="0" marL="0">
              <a:buNone/>
            </a:pPr>
            <a:r>
              <a:rPr lang="en-US" sz="900" dirty="0">
                <a:solidFill>
                  <a:srgbClr val="56627A"/>
                </a:solidFill>
                <a:latin typeface="Calibri" pitchFamily="34" charset="0"/>
                <a:ea typeface="Calibri" pitchFamily="34" charset="-122"/>
                <a:cs typeface="Calibri" pitchFamily="34" charset="-120"/>
              </a:rPr>
              <a:t>Chaukas AI  |  Team Shivay</a:t>
            </a:r>
            <a:endParaRPr lang="en-US" sz="900" dirty="0"/>
          </a:p>
        </p:txBody>
      </p:sp>
      <p:sp>
        <p:nvSpPr>
          <p:cNvPr id="6" name="Text 4"/>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56627A"/>
                </a:solidFill>
                <a:latin typeface="Calibri" pitchFamily="34" charset="0"/>
                <a:ea typeface="Calibri" pitchFamily="34" charset="-122"/>
                <a:cs typeface="Calibri" pitchFamily="34" charset="-120"/>
              </a:rPr>
              <a:t>14</a:t>
            </a:r>
            <a:endParaRPr lang="en-US" sz="900" dirty="0"/>
          </a:p>
        </p:txBody>
      </p:sp>
      <p:sp>
        <p:nvSpPr>
          <p:cNvPr id="7" name="Text 5"/>
          <p:cNvSpPr txBox="1"/>
          <p:nvPr/>
        </p:nvSpPr>
        <p:spPr>
          <a:xfrm>
            <a:off x="5669280" y="201168"/>
            <a:ext cx="3017520" cy="228600"/>
          </a:xfrm>
          <a:prstGeom prst="rect">
            <a:avLst/>
          </a:prstGeom>
          <a:noFill/>
          <a:ln/>
        </p:spPr>
        <p:txBody>
          <a:bodyPr wrap="square" lIns="0" tIns="0" rIns="0" bIns="0" rtlCol="0" anchor="ctr"/>
          <a:lstStyle/>
          <a:p>
            <a:pPr algn="r" indent="0" marL="0">
              <a:buNone/>
            </a:pPr>
            <a:r>
              <a:rPr lang="en-US" sz="950" dirty="0">
                <a:solidFill>
                  <a:srgbClr val="56627A"/>
                </a:solidFill>
                <a:latin typeface="Calibri" pitchFamily="34" charset="0"/>
                <a:ea typeface="Calibri" pitchFamily="34" charset="-122"/>
                <a:cs typeface="Calibri" pitchFamily="34" charset="-120"/>
              </a:rPr>
              <a:t>Presents: Member 6</a:t>
            </a:r>
            <a:endParaRPr lang="en-US" sz="950" dirty="0"/>
          </a:p>
        </p:txBody>
      </p:sp>
      <p:sp>
        <p:nvSpPr>
          <p:cNvPr id="8" name="Shape 6"/>
          <p:cNvSpPr/>
          <p:nvPr/>
        </p:nvSpPr>
        <p:spPr>
          <a:xfrm>
            <a:off x="457200" y="1280160"/>
            <a:ext cx="4023360" cy="2651760"/>
          </a:xfrm>
          <a:prstGeom prst="rect">
            <a:avLst/>
          </a:prstGeom>
          <a:solidFill>
            <a:srgbClr val="FFFFFF"/>
          </a:solidFill>
          <a:ln w="9525">
            <a:solidFill>
              <a:srgbClr val="D9DEE7"/>
            </a:solidFill>
            <a:prstDash val="solid"/>
          </a:ln>
        </p:spPr>
      </p:sp>
      <p:sp>
        <p:nvSpPr>
          <p:cNvPr id="9" name="Text 7"/>
          <p:cNvSpPr txBox="1"/>
          <p:nvPr/>
        </p:nvSpPr>
        <p:spPr>
          <a:xfrm>
            <a:off x="640080" y="1371600"/>
            <a:ext cx="3657600" cy="320040"/>
          </a:xfrm>
          <a:prstGeom prst="rect">
            <a:avLst/>
          </a:prstGeom>
          <a:noFill/>
          <a:ln/>
        </p:spPr>
        <p:txBody>
          <a:bodyPr wrap="square" lIns="0" tIns="0" rIns="0" bIns="0" rtlCol="0" anchor="ctr"/>
          <a:lstStyle/>
          <a:p>
            <a:pPr indent="0" marL="0">
              <a:buNone/>
            </a:pPr>
            <a:r>
              <a:rPr lang="en-US" sz="1500" b="1" dirty="0">
                <a:solidFill>
                  <a:srgbClr val="B42318"/>
                </a:solidFill>
                <a:latin typeface="Calibri" pitchFamily="34" charset="0"/>
                <a:ea typeface="Calibri" pitchFamily="34" charset="-122"/>
                <a:cs typeface="Calibri" pitchFamily="34" charset="-120"/>
              </a:rPr>
              <a:t>Current limits</a:t>
            </a:r>
            <a:endParaRPr lang="en-US" sz="1500" dirty="0"/>
          </a:p>
        </p:txBody>
      </p:sp>
      <p:sp>
        <p:nvSpPr>
          <p:cNvPr id="10" name="Text 8"/>
          <p:cNvSpPr txBox="1"/>
          <p:nvPr/>
        </p:nvSpPr>
        <p:spPr>
          <a:xfrm>
            <a:off x="640080" y="1783080"/>
            <a:ext cx="3657600" cy="26517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72033"/>
                </a:solidFill>
                <a:latin typeface="Calibri" pitchFamily="34" charset="0"/>
                <a:ea typeface="Calibri" pitchFamily="34" charset="-122"/>
                <a:cs typeface="Calibri" pitchFamily="34" charset="-120"/>
              </a:rPr>
              <a:t>Routing is configured for Roorkee and Muzaffarnagar only</a:t>
            </a:r>
            <a:endParaRPr lang="en-US" sz="1200" dirty="0"/>
          </a:p>
          <a:p>
            <a:pPr marL="342900" indent="-342900">
              <a:spcAft>
                <a:spcPts val="600"/>
              </a:spcAft>
              <a:buSzPct val="100000"/>
              <a:buChar char="•"/>
            </a:pPr>
            <a:r>
              <a:rPr lang="en-US" sz="1200" dirty="0">
                <a:solidFill>
                  <a:srgbClr val="172033"/>
                </a:solidFill>
                <a:latin typeface="Calibri" pitchFamily="34" charset="0"/>
                <a:ea typeface="Calibri" pitchFamily="34" charset="-122"/>
                <a:cs typeface="Calibri" pitchFamily="34" charset="-120"/>
              </a:rPr>
              <a:t>Department panel needs per-department logins</a:t>
            </a:r>
            <a:endParaRPr lang="en-US" sz="1200" dirty="0"/>
          </a:p>
          <a:p>
            <a:pPr marL="342900" indent="-342900">
              <a:spcAft>
                <a:spcPts val="600"/>
              </a:spcAft>
              <a:buSzPct val="100000"/>
              <a:buChar char="•"/>
            </a:pPr>
            <a:r>
              <a:rPr lang="en-US" sz="1200" dirty="0">
                <a:solidFill>
                  <a:srgbClr val="172033"/>
                </a:solidFill>
                <a:latin typeface="Calibri" pitchFamily="34" charset="0"/>
                <a:ea typeface="Calibri" pitchFamily="34" charset="-122"/>
                <a:cs typeface="Calibri" pitchFamily="34" charset="-120"/>
              </a:rPr>
              <a:t>Older dashboard history is seeded sample data</a:t>
            </a:r>
            <a:endParaRPr lang="en-US" sz="1200" dirty="0"/>
          </a:p>
          <a:p>
            <a:pPr marL="342900" indent="-342900">
              <a:spcAft>
                <a:spcPts val="600"/>
              </a:spcAft>
              <a:buSzPct val="100000"/>
              <a:buChar char="•"/>
            </a:pPr>
            <a:r>
              <a:rPr lang="en-US" sz="1200" dirty="0">
                <a:solidFill>
                  <a:srgbClr val="172033"/>
                </a:solidFill>
                <a:latin typeface="Calibri" pitchFamily="34" charset="0"/>
                <a:ea typeface="Calibri" pitchFamily="34" charset="-122"/>
                <a:cs typeface="Calibri" pitchFamily="34" charset="-120"/>
              </a:rPr>
              <a:t>AI needs internet; photos are not yet compressed on device</a:t>
            </a:r>
            <a:endParaRPr lang="en-US" sz="1200" dirty="0"/>
          </a:p>
        </p:txBody>
      </p:sp>
      <p:sp>
        <p:nvSpPr>
          <p:cNvPr id="11" name="Shape 9"/>
          <p:cNvSpPr/>
          <p:nvPr/>
        </p:nvSpPr>
        <p:spPr>
          <a:xfrm>
            <a:off x="4663440" y="1280160"/>
            <a:ext cx="4023360" cy="2651760"/>
          </a:xfrm>
          <a:prstGeom prst="rect">
            <a:avLst/>
          </a:prstGeom>
          <a:solidFill>
            <a:srgbClr val="FFFFFF"/>
          </a:solidFill>
          <a:ln w="9525">
            <a:solidFill>
              <a:srgbClr val="D9DEE7"/>
            </a:solidFill>
            <a:prstDash val="solid"/>
          </a:ln>
        </p:spPr>
      </p:sp>
      <p:sp>
        <p:nvSpPr>
          <p:cNvPr id="12" name="Text 10"/>
          <p:cNvSpPr txBox="1"/>
          <p:nvPr/>
        </p:nvSpPr>
        <p:spPr>
          <a:xfrm>
            <a:off x="4846320" y="1371600"/>
            <a:ext cx="3657600" cy="320040"/>
          </a:xfrm>
          <a:prstGeom prst="rect">
            <a:avLst/>
          </a:prstGeom>
          <a:noFill/>
          <a:ln/>
        </p:spPr>
        <p:txBody>
          <a:bodyPr wrap="square" lIns="0" tIns="0" rIns="0" bIns="0" rtlCol="0" anchor="ctr"/>
          <a:lstStyle/>
          <a:p>
            <a:pPr indent="0" marL="0">
              <a:buNone/>
            </a:pPr>
            <a:r>
              <a:rPr lang="en-US" sz="1500" b="1" dirty="0">
                <a:solidFill>
                  <a:srgbClr val="138808"/>
                </a:solidFill>
                <a:latin typeface="Calibri" pitchFamily="34" charset="0"/>
                <a:ea typeface="Calibri" pitchFamily="34" charset="-122"/>
                <a:cs typeface="Calibri" pitchFamily="34" charset="-120"/>
              </a:rPr>
              <a:t>Next 90 days</a:t>
            </a:r>
            <a:endParaRPr lang="en-US" sz="1500" dirty="0"/>
          </a:p>
        </p:txBody>
      </p:sp>
      <p:sp>
        <p:nvSpPr>
          <p:cNvPr id="13" name="Text 11"/>
          <p:cNvSpPr txBox="1"/>
          <p:nvPr/>
        </p:nvSpPr>
        <p:spPr>
          <a:xfrm>
            <a:off x="4846320" y="1783080"/>
            <a:ext cx="3657600" cy="2651760"/>
          </a:xfrm>
          <a:prstGeom prst="rect">
            <a:avLst/>
          </a:prstGeom>
          <a:noFill/>
          <a:ln/>
        </p:spPr>
        <p:txBody>
          <a:bodyPr wrap="square" lIns="0" tIns="0" rIns="0" bIns="0" rtlCol="0" anchor="t"/>
          <a:lstStyle/>
          <a:p>
            <a:pPr marL="342900" indent="-342900">
              <a:spcAft>
                <a:spcPts val="600"/>
              </a:spcAft>
              <a:buSzPct val="100000"/>
              <a:buChar char="•"/>
            </a:pPr>
            <a:r>
              <a:rPr lang="en-US" sz="1200" dirty="0">
                <a:solidFill>
                  <a:srgbClr val="172033"/>
                </a:solidFill>
                <a:latin typeface="Calibri" pitchFamily="34" charset="0"/>
                <a:ea typeface="Calibri" pitchFamily="34" charset="-122"/>
                <a:cs typeface="Calibri" pitchFamily="34" charset="-120"/>
              </a:rPr>
              <a:t>Department logins and SLA timers</a:t>
            </a:r>
            <a:endParaRPr lang="en-US" sz="1200" dirty="0"/>
          </a:p>
          <a:p>
            <a:pPr marL="342900" indent="-342900">
              <a:spcAft>
                <a:spcPts val="600"/>
              </a:spcAft>
              <a:buSzPct val="100000"/>
              <a:buChar char="•"/>
            </a:pPr>
            <a:r>
              <a:rPr lang="en-US" sz="1200" dirty="0">
                <a:solidFill>
                  <a:srgbClr val="172033"/>
                </a:solidFill>
                <a:latin typeface="Calibri" pitchFamily="34" charset="0"/>
                <a:ea typeface="Calibri" pitchFamily="34" charset="-122"/>
                <a:cs typeface="Calibri" pitchFamily="34" charset="-120"/>
              </a:rPr>
              <a:t>WhatsApp intake and status messages</a:t>
            </a:r>
            <a:endParaRPr lang="en-US" sz="1200" dirty="0"/>
          </a:p>
          <a:p>
            <a:pPr marL="342900" indent="-342900">
              <a:spcAft>
                <a:spcPts val="600"/>
              </a:spcAft>
              <a:buSzPct val="100000"/>
              <a:buChar char="•"/>
            </a:pPr>
            <a:r>
              <a:rPr lang="en-US" sz="1200" dirty="0">
                <a:solidFill>
                  <a:srgbClr val="172033"/>
                </a:solidFill>
                <a:latin typeface="Calibri" pitchFamily="34" charset="0"/>
                <a:ea typeface="Calibri" pitchFamily="34" charset="-122"/>
                <a:cs typeface="Calibri" pitchFamily="34" charset="-120"/>
              </a:rPr>
              <a:t>Citizen confirmation after closure</a:t>
            </a:r>
            <a:endParaRPr lang="en-US" sz="1200" dirty="0"/>
          </a:p>
          <a:p>
            <a:pPr marL="342900" indent="-342900">
              <a:spcAft>
                <a:spcPts val="600"/>
              </a:spcAft>
              <a:buSzPct val="100000"/>
              <a:buChar char="•"/>
            </a:pPr>
            <a:r>
              <a:rPr lang="en-US" sz="1200" dirty="0">
                <a:solidFill>
                  <a:srgbClr val="172033"/>
                </a:solidFill>
                <a:latin typeface="Calibri" pitchFamily="34" charset="0"/>
                <a:ea typeface="Calibri" pitchFamily="34" charset="-122"/>
                <a:cs typeface="Calibri" pitchFamily="34" charset="-120"/>
              </a:rPr>
              <a:t>Measure AI against officer judgement on real complaints</a:t>
            </a:r>
            <a:endParaRPr lang="en-US" sz="1200" dirty="0"/>
          </a:p>
          <a:p>
            <a:pPr marL="342900" indent="-342900">
              <a:spcAft>
                <a:spcPts val="600"/>
              </a:spcAft>
              <a:buSzPct val="100000"/>
              <a:buChar char="•"/>
            </a:pPr>
            <a:r>
              <a:rPr lang="en-US" sz="1200" dirty="0">
                <a:solidFill>
                  <a:srgbClr val="172033"/>
                </a:solidFill>
                <a:latin typeface="Calibri" pitchFamily="34" charset="0"/>
                <a:ea typeface="Calibri" pitchFamily="34" charset="-122"/>
                <a:cs typeface="Calibri" pitchFamily="34" charset="-120"/>
              </a:rPr>
              <a:t>Pilot with one department</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9"/>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07010"/>
          </a:solidFill>
          <a:ln w="12700">
            <a:solidFill>
              <a:srgbClr val="E07010"/>
            </a:solidFill>
            <a:prstDash val="solid"/>
          </a:ln>
        </p:spPr>
      </p:sp>
      <p:sp>
        <p:nvSpPr>
          <p:cNvPr id="3" name="Text 1"/>
          <p:cNvSpPr txBox="1"/>
          <p:nvPr/>
        </p:nvSpPr>
        <p:spPr>
          <a:xfrm>
            <a:off x="457200" y="201168"/>
            <a:ext cx="6400800" cy="228600"/>
          </a:xfrm>
          <a:prstGeom prst="rect">
            <a:avLst/>
          </a:prstGeom>
          <a:noFill/>
          <a:ln/>
        </p:spPr>
        <p:txBody>
          <a:bodyPr wrap="square" lIns="0" tIns="0" rIns="0" bIns="0" rtlCol="0" anchor="ctr"/>
          <a:lstStyle/>
          <a:p>
            <a:pPr indent="0" marL="0">
              <a:buNone/>
            </a:pPr>
            <a:r>
              <a:rPr lang="en-US" sz="1050" b="1" spc="200" kern="0" dirty="0">
                <a:solidFill>
                  <a:srgbClr val="E07010"/>
                </a:solidFill>
                <a:latin typeface="Calibri" pitchFamily="34" charset="0"/>
                <a:ea typeface="Calibri" pitchFamily="34" charset="-122"/>
                <a:cs typeface="Calibri" pitchFamily="34" charset="-120"/>
              </a:rPr>
              <a:t>THE TEAM</a:t>
            </a:r>
            <a:endParaRPr lang="en-US" sz="1050" dirty="0"/>
          </a:p>
        </p:txBody>
      </p:sp>
      <p:sp>
        <p:nvSpPr>
          <p:cNvPr id="4" name="Text 2"/>
          <p:cNvSpPr txBox="1"/>
          <p:nvPr/>
        </p:nvSpPr>
        <p:spPr>
          <a:xfrm>
            <a:off x="457200" y="429768"/>
            <a:ext cx="8229600" cy="685800"/>
          </a:xfrm>
          <a:prstGeom prst="rect">
            <a:avLst/>
          </a:prstGeom>
          <a:noFill/>
          <a:ln/>
        </p:spPr>
        <p:txBody>
          <a:bodyPr wrap="square" lIns="0" tIns="0" rIns="0" bIns="0" rtlCol="0" anchor="t"/>
          <a:lstStyle/>
          <a:p>
            <a:pPr indent="0" marL="0">
              <a:buNone/>
            </a:pPr>
            <a:r>
              <a:rPr lang="en-US" sz="2300" b="1" dirty="0">
                <a:solidFill>
                  <a:srgbClr val="153E7C"/>
                </a:solidFill>
                <a:latin typeface="Calibri" pitchFamily="34" charset="0"/>
                <a:ea typeface="Calibri" pitchFamily="34" charset="-122"/>
                <a:cs typeface="Calibri" pitchFamily="34" charset="-120"/>
              </a:rPr>
              <a:t>Team Shivay</a:t>
            </a:r>
            <a:endParaRPr lang="en-US" sz="2300" dirty="0"/>
          </a:p>
        </p:txBody>
      </p:sp>
      <p:sp>
        <p:nvSpPr>
          <p:cNvPr id="5" name="Text 3"/>
          <p:cNvSpPr txBox="1"/>
          <p:nvPr/>
        </p:nvSpPr>
        <p:spPr>
          <a:xfrm>
            <a:off x="457200" y="4828032"/>
            <a:ext cx="4572000" cy="201168"/>
          </a:xfrm>
          <a:prstGeom prst="rect">
            <a:avLst/>
          </a:prstGeom>
          <a:noFill/>
          <a:ln/>
        </p:spPr>
        <p:txBody>
          <a:bodyPr wrap="square" lIns="0" tIns="0" rIns="0" bIns="0" rtlCol="0" anchor="ctr"/>
          <a:lstStyle/>
          <a:p>
            <a:pPr indent="0" marL="0">
              <a:buNone/>
            </a:pPr>
            <a:r>
              <a:rPr lang="en-US" sz="900" dirty="0">
                <a:solidFill>
                  <a:srgbClr val="56627A"/>
                </a:solidFill>
                <a:latin typeface="Calibri" pitchFamily="34" charset="0"/>
                <a:ea typeface="Calibri" pitchFamily="34" charset="-122"/>
                <a:cs typeface="Calibri" pitchFamily="34" charset="-120"/>
              </a:rPr>
              <a:t>Chaukas AI  |  Team Shivay</a:t>
            </a:r>
            <a:endParaRPr lang="en-US" sz="900" dirty="0"/>
          </a:p>
        </p:txBody>
      </p:sp>
      <p:sp>
        <p:nvSpPr>
          <p:cNvPr id="6" name="Text 4"/>
          <p:cNvSpPr txBox="1"/>
          <p:nvPr/>
        </p:nvSpPr>
        <p:spPr>
          <a:xfrm>
            <a:off x="8229600" y="4828032"/>
            <a:ext cx="457200" cy="201168"/>
          </a:xfrm>
          <a:prstGeom prst="rect">
            <a:avLst/>
          </a:prstGeom>
          <a:noFill/>
          <a:ln/>
        </p:spPr>
        <p:txBody>
          <a:bodyPr wrap="square" lIns="0" tIns="0" rIns="0" bIns="0" rtlCol="0" anchor="ctr"/>
          <a:lstStyle/>
          <a:p>
            <a:pPr algn="r" indent="0" marL="0">
              <a:buNone/>
            </a:pPr>
            <a:r>
              <a:rPr lang="en-US" sz="900" dirty="0">
                <a:solidFill>
                  <a:srgbClr val="56627A"/>
                </a:solidFill>
                <a:latin typeface="Calibri" pitchFamily="34" charset="0"/>
                <a:ea typeface="Calibri" pitchFamily="34" charset="-122"/>
                <a:cs typeface="Calibri" pitchFamily="34" charset="-120"/>
              </a:rPr>
              <a:t>15</a:t>
            </a:r>
            <a:endParaRPr lang="en-US" sz="900" dirty="0"/>
          </a:p>
        </p:txBody>
      </p:sp>
      <p:sp>
        <p:nvSpPr>
          <p:cNvPr id="7" name="Text 5"/>
          <p:cNvSpPr txBox="1"/>
          <p:nvPr/>
        </p:nvSpPr>
        <p:spPr>
          <a:xfrm>
            <a:off x="5669280" y="201168"/>
            <a:ext cx="3017520" cy="228600"/>
          </a:xfrm>
          <a:prstGeom prst="rect">
            <a:avLst/>
          </a:prstGeom>
          <a:noFill/>
          <a:ln/>
        </p:spPr>
        <p:txBody>
          <a:bodyPr wrap="square" lIns="0" tIns="0" rIns="0" bIns="0" rtlCol="0" anchor="ctr"/>
          <a:lstStyle/>
          <a:p>
            <a:pPr algn="r" indent="0" marL="0">
              <a:buNone/>
            </a:pPr>
            <a:r>
              <a:rPr lang="en-US" sz="950" dirty="0">
                <a:solidFill>
                  <a:srgbClr val="56627A"/>
                </a:solidFill>
                <a:latin typeface="Calibri" pitchFamily="34" charset="0"/>
                <a:ea typeface="Calibri" pitchFamily="34" charset="-122"/>
                <a:cs typeface="Calibri" pitchFamily="34" charset="-120"/>
              </a:rPr>
              <a:t>Presents: Nikhil introduces all six</a:t>
            </a:r>
            <a:endParaRPr lang="en-US" sz="950" dirty="0"/>
          </a:p>
        </p:txBody>
      </p:sp>
      <p:sp>
        <p:nvSpPr>
          <p:cNvPr id="8" name="Shape 6"/>
          <p:cNvSpPr/>
          <p:nvPr/>
        </p:nvSpPr>
        <p:spPr>
          <a:xfrm>
            <a:off x="457200" y="1325880"/>
            <a:ext cx="2651760" cy="1417320"/>
          </a:xfrm>
          <a:prstGeom prst="rect">
            <a:avLst/>
          </a:prstGeom>
          <a:solidFill>
            <a:srgbClr val="FFFFFF"/>
          </a:solidFill>
          <a:ln w="9525">
            <a:solidFill>
              <a:srgbClr val="D9DEE7"/>
            </a:solidFill>
            <a:prstDash val="solid"/>
          </a:ln>
        </p:spPr>
      </p:sp>
      <p:sp>
        <p:nvSpPr>
          <p:cNvPr id="9" name="Shape 7"/>
          <p:cNvSpPr/>
          <p:nvPr/>
        </p:nvSpPr>
        <p:spPr>
          <a:xfrm>
            <a:off x="594360" y="1463040"/>
            <a:ext cx="502920" cy="502920"/>
          </a:xfrm>
          <a:prstGeom prst="ellipse">
            <a:avLst/>
          </a:prstGeom>
          <a:solidFill>
            <a:srgbClr val="153E7C"/>
          </a:solidFill>
          <a:ln w="12700">
            <a:solidFill>
              <a:srgbClr val="FFFFFF"/>
            </a:solidFill>
            <a:prstDash val="solid"/>
          </a:ln>
        </p:spPr>
      </p:sp>
      <p:sp>
        <p:nvSpPr>
          <p:cNvPr id="10" name="Text 8"/>
          <p:cNvSpPr txBox="1"/>
          <p:nvPr/>
        </p:nvSpPr>
        <p:spPr>
          <a:xfrm>
            <a:off x="594360" y="1463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N</a:t>
            </a:r>
            <a:endParaRPr lang="en-US" sz="1800" dirty="0"/>
          </a:p>
        </p:txBody>
      </p:sp>
      <p:sp>
        <p:nvSpPr>
          <p:cNvPr id="11" name="Text 9"/>
          <p:cNvSpPr txBox="1"/>
          <p:nvPr/>
        </p:nvSpPr>
        <p:spPr>
          <a:xfrm>
            <a:off x="1188720" y="1508760"/>
            <a:ext cx="1828800" cy="411480"/>
          </a:xfrm>
          <a:prstGeom prst="rect">
            <a:avLst/>
          </a:prstGeom>
          <a:noFill/>
          <a:ln/>
        </p:spPr>
        <p:txBody>
          <a:bodyPr wrap="square" lIns="0" tIns="0" rIns="0" bIns="0" rtlCol="0" anchor="ctr"/>
          <a:lstStyle/>
          <a:p>
            <a:pPr indent="0" marL="0">
              <a:buNone/>
            </a:pPr>
            <a:r>
              <a:rPr lang="en-US" sz="1350" b="1" dirty="0">
                <a:solidFill>
                  <a:srgbClr val="153E7C"/>
                </a:solidFill>
                <a:latin typeface="Calibri" pitchFamily="34" charset="0"/>
                <a:ea typeface="Calibri" pitchFamily="34" charset="-122"/>
                <a:cs typeface="Calibri" pitchFamily="34" charset="-120"/>
              </a:rPr>
              <a:t>Nikhil Tomar</a:t>
            </a:r>
            <a:endParaRPr lang="en-US" sz="1350" dirty="0"/>
          </a:p>
        </p:txBody>
      </p:sp>
      <p:sp>
        <p:nvSpPr>
          <p:cNvPr id="12" name="Text 10"/>
          <p:cNvSpPr txBox="1"/>
          <p:nvPr/>
        </p:nvSpPr>
        <p:spPr>
          <a:xfrm>
            <a:off x="594360" y="2057400"/>
            <a:ext cx="2377440" cy="640080"/>
          </a:xfrm>
          <a:prstGeom prst="rect">
            <a:avLst/>
          </a:prstGeom>
          <a:noFill/>
          <a:ln/>
        </p:spPr>
        <p:txBody>
          <a:bodyPr wrap="square" lIns="0" tIns="0" rIns="0" bIns="0" rtlCol="0" anchor="t"/>
          <a:lstStyle/>
          <a:p>
            <a:pPr indent="0" marL="0">
              <a:buNone/>
            </a:pPr>
            <a:r>
              <a:rPr lang="en-US" sz="1100" dirty="0">
                <a:solidFill>
                  <a:srgbClr val="172033"/>
                </a:solidFill>
                <a:latin typeface="Calibri" pitchFamily="34" charset="0"/>
                <a:ea typeface="Calibri" pitchFamily="34" charset="-122"/>
                <a:cs typeface="Calibri" pitchFamily="34" charset="-120"/>
              </a:rPr>
              <a:t>Team lead. Backend, analytics, business plan, main pitch</a:t>
            </a:r>
            <a:endParaRPr lang="en-US" sz="1100" dirty="0"/>
          </a:p>
        </p:txBody>
      </p:sp>
      <p:sp>
        <p:nvSpPr>
          <p:cNvPr id="13" name="Shape 11"/>
          <p:cNvSpPr/>
          <p:nvPr/>
        </p:nvSpPr>
        <p:spPr>
          <a:xfrm>
            <a:off x="3264408" y="1325880"/>
            <a:ext cx="2651760" cy="1417320"/>
          </a:xfrm>
          <a:prstGeom prst="rect">
            <a:avLst/>
          </a:prstGeom>
          <a:solidFill>
            <a:srgbClr val="FFFFFF"/>
          </a:solidFill>
          <a:ln w="9525">
            <a:solidFill>
              <a:srgbClr val="D9DEE7"/>
            </a:solidFill>
            <a:prstDash val="solid"/>
          </a:ln>
        </p:spPr>
      </p:sp>
      <p:sp>
        <p:nvSpPr>
          <p:cNvPr id="14" name="Shape 12"/>
          <p:cNvSpPr/>
          <p:nvPr/>
        </p:nvSpPr>
        <p:spPr>
          <a:xfrm>
            <a:off x="3401568" y="1463040"/>
            <a:ext cx="502920" cy="502920"/>
          </a:xfrm>
          <a:prstGeom prst="ellipse">
            <a:avLst/>
          </a:prstGeom>
          <a:solidFill>
            <a:srgbClr val="153E7C"/>
          </a:solidFill>
          <a:ln w="12700">
            <a:solidFill>
              <a:srgbClr val="FFFFFF"/>
            </a:solidFill>
            <a:prstDash val="solid"/>
          </a:ln>
        </p:spPr>
      </p:sp>
      <p:sp>
        <p:nvSpPr>
          <p:cNvPr id="15" name="Text 13"/>
          <p:cNvSpPr txBox="1"/>
          <p:nvPr/>
        </p:nvSpPr>
        <p:spPr>
          <a:xfrm>
            <a:off x="3401568" y="1463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M</a:t>
            </a:r>
            <a:endParaRPr lang="en-US" sz="1800" dirty="0"/>
          </a:p>
        </p:txBody>
      </p:sp>
      <p:sp>
        <p:nvSpPr>
          <p:cNvPr id="16" name="Text 14"/>
          <p:cNvSpPr txBox="1"/>
          <p:nvPr/>
        </p:nvSpPr>
        <p:spPr>
          <a:xfrm>
            <a:off x="3995928" y="1508760"/>
            <a:ext cx="1828800" cy="411480"/>
          </a:xfrm>
          <a:prstGeom prst="rect">
            <a:avLst/>
          </a:prstGeom>
          <a:noFill/>
          <a:ln/>
        </p:spPr>
        <p:txBody>
          <a:bodyPr wrap="square" lIns="0" tIns="0" rIns="0" bIns="0" rtlCol="0" anchor="ctr"/>
          <a:lstStyle/>
          <a:p>
            <a:pPr indent="0" marL="0">
              <a:buNone/>
            </a:pPr>
            <a:r>
              <a:rPr lang="en-US" sz="1350" b="1" dirty="0">
                <a:solidFill>
                  <a:srgbClr val="153E7C"/>
                </a:solidFill>
                <a:latin typeface="Calibri" pitchFamily="34" charset="0"/>
                <a:ea typeface="Calibri" pitchFamily="34" charset="-122"/>
                <a:cs typeface="Calibri" pitchFamily="34" charset="-120"/>
              </a:rPr>
              <a:t>Madhav Katyayan</a:t>
            </a:r>
            <a:endParaRPr lang="en-US" sz="1350" dirty="0"/>
          </a:p>
        </p:txBody>
      </p:sp>
      <p:sp>
        <p:nvSpPr>
          <p:cNvPr id="17" name="Text 15"/>
          <p:cNvSpPr txBox="1"/>
          <p:nvPr/>
        </p:nvSpPr>
        <p:spPr>
          <a:xfrm>
            <a:off x="3401568" y="2057400"/>
            <a:ext cx="2377440" cy="640080"/>
          </a:xfrm>
          <a:prstGeom prst="rect">
            <a:avLst/>
          </a:prstGeom>
          <a:noFill/>
          <a:ln/>
        </p:spPr>
        <p:txBody>
          <a:bodyPr wrap="square" lIns="0" tIns="0" rIns="0" bIns="0" rtlCol="0" anchor="t"/>
          <a:lstStyle/>
          <a:p>
            <a:pPr indent="0" marL="0">
              <a:buNone/>
            </a:pPr>
            <a:r>
              <a:rPr lang="en-US" sz="1100" dirty="0">
                <a:solidFill>
                  <a:srgbClr val="172033"/>
                </a:solidFill>
                <a:latin typeface="Calibri" pitchFamily="34" charset="0"/>
                <a:ea typeface="Calibri" pitchFamily="34" charset="-122"/>
                <a:cs typeface="Calibri" pitchFamily="34" charset="-120"/>
              </a:rPr>
              <a:t>Frontend and integrations; co-presenter, leads judges' questions</a:t>
            </a:r>
            <a:endParaRPr lang="en-US" sz="1100" dirty="0"/>
          </a:p>
        </p:txBody>
      </p:sp>
      <p:sp>
        <p:nvSpPr>
          <p:cNvPr id="18" name="Shape 16"/>
          <p:cNvSpPr/>
          <p:nvPr/>
        </p:nvSpPr>
        <p:spPr>
          <a:xfrm>
            <a:off x="6071616" y="1325880"/>
            <a:ext cx="2651760" cy="1417320"/>
          </a:xfrm>
          <a:prstGeom prst="rect">
            <a:avLst/>
          </a:prstGeom>
          <a:solidFill>
            <a:srgbClr val="FFFFFF"/>
          </a:solidFill>
          <a:ln w="9525">
            <a:solidFill>
              <a:srgbClr val="D9DEE7"/>
            </a:solidFill>
            <a:prstDash val="solid"/>
          </a:ln>
        </p:spPr>
      </p:sp>
      <p:sp>
        <p:nvSpPr>
          <p:cNvPr id="19" name="Shape 17"/>
          <p:cNvSpPr/>
          <p:nvPr/>
        </p:nvSpPr>
        <p:spPr>
          <a:xfrm>
            <a:off x="6208776" y="1463040"/>
            <a:ext cx="502920" cy="502920"/>
          </a:xfrm>
          <a:prstGeom prst="ellipse">
            <a:avLst/>
          </a:prstGeom>
          <a:solidFill>
            <a:srgbClr val="153E7C"/>
          </a:solidFill>
          <a:ln w="12700">
            <a:solidFill>
              <a:srgbClr val="FFFFFF"/>
            </a:solidFill>
            <a:prstDash val="solid"/>
          </a:ln>
        </p:spPr>
      </p:sp>
      <p:sp>
        <p:nvSpPr>
          <p:cNvPr id="20" name="Text 18"/>
          <p:cNvSpPr txBox="1"/>
          <p:nvPr/>
        </p:nvSpPr>
        <p:spPr>
          <a:xfrm>
            <a:off x="6208776" y="1463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21" name="Text 19"/>
          <p:cNvSpPr txBox="1"/>
          <p:nvPr/>
        </p:nvSpPr>
        <p:spPr>
          <a:xfrm>
            <a:off x="6803136" y="1508760"/>
            <a:ext cx="1828800" cy="411480"/>
          </a:xfrm>
          <a:prstGeom prst="rect">
            <a:avLst/>
          </a:prstGeom>
          <a:noFill/>
          <a:ln/>
        </p:spPr>
        <p:txBody>
          <a:bodyPr wrap="square" lIns="0" tIns="0" rIns="0" bIns="0" rtlCol="0" anchor="ctr"/>
          <a:lstStyle/>
          <a:p>
            <a:pPr indent="0" marL="0">
              <a:buNone/>
            </a:pPr>
            <a:r>
              <a:rPr lang="en-US" sz="1350" b="1" dirty="0">
                <a:solidFill>
                  <a:srgbClr val="153E7C"/>
                </a:solidFill>
                <a:latin typeface="Calibri" pitchFamily="34" charset="0"/>
                <a:ea typeface="Calibri" pitchFamily="34" charset="-122"/>
                <a:cs typeface="Calibri" pitchFamily="34" charset="-120"/>
              </a:rPr>
              <a:t>Abhishek Pundir</a:t>
            </a:r>
            <a:endParaRPr lang="en-US" sz="1350" dirty="0"/>
          </a:p>
        </p:txBody>
      </p:sp>
      <p:sp>
        <p:nvSpPr>
          <p:cNvPr id="22" name="Text 20"/>
          <p:cNvSpPr txBox="1"/>
          <p:nvPr/>
        </p:nvSpPr>
        <p:spPr>
          <a:xfrm>
            <a:off x="6208776" y="2057400"/>
            <a:ext cx="2377440" cy="640080"/>
          </a:xfrm>
          <a:prstGeom prst="rect">
            <a:avLst/>
          </a:prstGeom>
          <a:noFill/>
          <a:ln/>
        </p:spPr>
        <p:txBody>
          <a:bodyPr wrap="square" lIns="0" tIns="0" rIns="0" bIns="0" rtlCol="0" anchor="t"/>
          <a:lstStyle/>
          <a:p>
            <a:pPr indent="0" marL="0">
              <a:buNone/>
            </a:pPr>
            <a:r>
              <a:rPr lang="en-US" sz="1100" dirty="0">
                <a:solidFill>
                  <a:srgbClr val="172033"/>
                </a:solidFill>
                <a:latin typeface="Calibri" pitchFamily="34" charset="0"/>
                <a:ea typeface="Calibri" pitchFamily="34" charset="-122"/>
                <a:cs typeface="Calibri" pitchFamily="34" charset="-120"/>
              </a:rPr>
              <a:t>AI vision agent, severity and verification logic</a:t>
            </a:r>
            <a:endParaRPr lang="en-US" sz="1100" dirty="0"/>
          </a:p>
        </p:txBody>
      </p:sp>
      <p:sp>
        <p:nvSpPr>
          <p:cNvPr id="23" name="Shape 21"/>
          <p:cNvSpPr/>
          <p:nvPr/>
        </p:nvSpPr>
        <p:spPr>
          <a:xfrm>
            <a:off x="457200" y="2926080"/>
            <a:ext cx="2651760" cy="1417320"/>
          </a:xfrm>
          <a:prstGeom prst="rect">
            <a:avLst/>
          </a:prstGeom>
          <a:solidFill>
            <a:srgbClr val="FFFFFF"/>
          </a:solidFill>
          <a:ln w="9525">
            <a:solidFill>
              <a:srgbClr val="D9DEE7"/>
            </a:solidFill>
            <a:prstDash val="solid"/>
          </a:ln>
        </p:spPr>
      </p:sp>
      <p:sp>
        <p:nvSpPr>
          <p:cNvPr id="24" name="Shape 22"/>
          <p:cNvSpPr/>
          <p:nvPr/>
        </p:nvSpPr>
        <p:spPr>
          <a:xfrm>
            <a:off x="594360" y="3063240"/>
            <a:ext cx="502920" cy="502920"/>
          </a:xfrm>
          <a:prstGeom prst="ellipse">
            <a:avLst/>
          </a:prstGeom>
          <a:solidFill>
            <a:srgbClr val="153E7C"/>
          </a:solidFill>
          <a:ln w="12700">
            <a:solidFill>
              <a:srgbClr val="FFFFFF"/>
            </a:solidFill>
            <a:prstDash val="solid"/>
          </a:ln>
        </p:spPr>
      </p:sp>
      <p:sp>
        <p:nvSpPr>
          <p:cNvPr id="25" name="Text 23"/>
          <p:cNvSpPr txBox="1"/>
          <p:nvPr/>
        </p:nvSpPr>
        <p:spPr>
          <a:xfrm>
            <a:off x="594360" y="3063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S</a:t>
            </a:r>
            <a:endParaRPr lang="en-US" sz="1800" dirty="0"/>
          </a:p>
        </p:txBody>
      </p:sp>
      <p:sp>
        <p:nvSpPr>
          <p:cNvPr id="26" name="Text 24"/>
          <p:cNvSpPr txBox="1"/>
          <p:nvPr/>
        </p:nvSpPr>
        <p:spPr>
          <a:xfrm>
            <a:off x="1188720" y="3108960"/>
            <a:ext cx="1828800" cy="411480"/>
          </a:xfrm>
          <a:prstGeom prst="rect">
            <a:avLst/>
          </a:prstGeom>
          <a:noFill/>
          <a:ln/>
        </p:spPr>
        <p:txBody>
          <a:bodyPr wrap="square" lIns="0" tIns="0" rIns="0" bIns="0" rtlCol="0" anchor="ctr"/>
          <a:lstStyle/>
          <a:p>
            <a:pPr indent="0" marL="0">
              <a:buNone/>
            </a:pPr>
            <a:r>
              <a:rPr lang="en-US" sz="1350" b="1" dirty="0">
                <a:solidFill>
                  <a:srgbClr val="153E7C"/>
                </a:solidFill>
                <a:latin typeface="Calibri" pitchFamily="34" charset="0"/>
                <a:ea typeface="Calibri" pitchFamily="34" charset="-122"/>
                <a:cs typeface="Calibri" pitchFamily="34" charset="-120"/>
              </a:rPr>
              <a:t>Smriti Gupta</a:t>
            </a:r>
            <a:endParaRPr lang="en-US" sz="1350" dirty="0"/>
          </a:p>
        </p:txBody>
      </p:sp>
      <p:sp>
        <p:nvSpPr>
          <p:cNvPr id="27" name="Text 25"/>
          <p:cNvSpPr txBox="1"/>
          <p:nvPr/>
        </p:nvSpPr>
        <p:spPr>
          <a:xfrm>
            <a:off x="594360" y="3657600"/>
            <a:ext cx="2377440" cy="640080"/>
          </a:xfrm>
          <a:prstGeom prst="rect">
            <a:avLst/>
          </a:prstGeom>
          <a:noFill/>
          <a:ln/>
        </p:spPr>
        <p:txBody>
          <a:bodyPr wrap="square" lIns="0" tIns="0" rIns="0" bIns="0" rtlCol="0" anchor="t"/>
          <a:lstStyle/>
          <a:p>
            <a:pPr indent="0" marL="0">
              <a:buNone/>
            </a:pPr>
            <a:r>
              <a:rPr lang="en-US" sz="1100" dirty="0">
                <a:solidFill>
                  <a:srgbClr val="172033"/>
                </a:solidFill>
                <a:latin typeface="Calibri" pitchFamily="34" charset="0"/>
                <a:ea typeface="Calibri" pitchFamily="34" charset="-122"/>
                <a:cs typeface="Calibri" pitchFamily="34" charset="-120"/>
              </a:rPr>
              <a:t>MongoDB database, data and testing support</a:t>
            </a:r>
            <a:endParaRPr lang="en-US" sz="1100" dirty="0"/>
          </a:p>
        </p:txBody>
      </p:sp>
      <p:sp>
        <p:nvSpPr>
          <p:cNvPr id="28" name="Shape 26"/>
          <p:cNvSpPr/>
          <p:nvPr/>
        </p:nvSpPr>
        <p:spPr>
          <a:xfrm>
            <a:off x="3264408" y="2926080"/>
            <a:ext cx="2651760" cy="1417320"/>
          </a:xfrm>
          <a:prstGeom prst="rect">
            <a:avLst/>
          </a:prstGeom>
          <a:solidFill>
            <a:srgbClr val="FFFFFF"/>
          </a:solidFill>
          <a:ln w="9525">
            <a:solidFill>
              <a:srgbClr val="D9DEE7"/>
            </a:solidFill>
            <a:prstDash val="solid"/>
          </a:ln>
        </p:spPr>
      </p:sp>
      <p:sp>
        <p:nvSpPr>
          <p:cNvPr id="29" name="Shape 27"/>
          <p:cNvSpPr/>
          <p:nvPr/>
        </p:nvSpPr>
        <p:spPr>
          <a:xfrm>
            <a:off x="3401568" y="3063240"/>
            <a:ext cx="502920" cy="502920"/>
          </a:xfrm>
          <a:prstGeom prst="ellipse">
            <a:avLst/>
          </a:prstGeom>
          <a:solidFill>
            <a:srgbClr val="153E7C"/>
          </a:solidFill>
          <a:ln w="12700">
            <a:solidFill>
              <a:srgbClr val="FFFFFF"/>
            </a:solidFill>
            <a:prstDash val="solid"/>
          </a:ln>
        </p:spPr>
      </p:sp>
      <p:sp>
        <p:nvSpPr>
          <p:cNvPr id="30" name="Text 28"/>
          <p:cNvSpPr txBox="1"/>
          <p:nvPr/>
        </p:nvSpPr>
        <p:spPr>
          <a:xfrm>
            <a:off x="3401568" y="3063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31" name="Text 29"/>
          <p:cNvSpPr txBox="1"/>
          <p:nvPr/>
        </p:nvSpPr>
        <p:spPr>
          <a:xfrm>
            <a:off x="3995928" y="3108960"/>
            <a:ext cx="1828800" cy="411480"/>
          </a:xfrm>
          <a:prstGeom prst="rect">
            <a:avLst/>
          </a:prstGeom>
          <a:noFill/>
          <a:ln/>
        </p:spPr>
        <p:txBody>
          <a:bodyPr wrap="square" lIns="0" tIns="0" rIns="0" bIns="0" rtlCol="0" anchor="ctr"/>
          <a:lstStyle/>
          <a:p>
            <a:pPr indent="0" marL="0">
              <a:buNone/>
            </a:pPr>
            <a:r>
              <a:rPr lang="en-US" sz="1350" b="1" dirty="0">
                <a:solidFill>
                  <a:srgbClr val="153E7C"/>
                </a:solidFill>
                <a:latin typeface="Calibri" pitchFamily="34" charset="0"/>
                <a:ea typeface="Calibri" pitchFamily="34" charset="-122"/>
                <a:cs typeface="Calibri" pitchFamily="34" charset="-120"/>
              </a:rPr>
              <a:t>Avni Rajput</a:t>
            </a:r>
            <a:endParaRPr lang="en-US" sz="1350" dirty="0"/>
          </a:p>
        </p:txBody>
      </p:sp>
      <p:sp>
        <p:nvSpPr>
          <p:cNvPr id="32" name="Text 30"/>
          <p:cNvSpPr txBox="1"/>
          <p:nvPr/>
        </p:nvSpPr>
        <p:spPr>
          <a:xfrm>
            <a:off x="3401568" y="3657600"/>
            <a:ext cx="2377440" cy="640080"/>
          </a:xfrm>
          <a:prstGeom prst="rect">
            <a:avLst/>
          </a:prstGeom>
          <a:noFill/>
          <a:ln/>
        </p:spPr>
        <p:txBody>
          <a:bodyPr wrap="square" lIns="0" tIns="0" rIns="0" bIns="0" rtlCol="0" anchor="t"/>
          <a:lstStyle/>
          <a:p>
            <a:pPr indent="0" marL="0">
              <a:buNone/>
            </a:pPr>
            <a:r>
              <a:rPr lang="en-US" sz="1100" dirty="0">
                <a:solidFill>
                  <a:srgbClr val="172033"/>
                </a:solidFill>
                <a:latin typeface="Calibri" pitchFamily="34" charset="0"/>
                <a:ea typeface="Calibri" pitchFamily="34" charset="-122"/>
                <a:cs typeface="Calibri" pitchFamily="34" charset="-120"/>
              </a:rPr>
              <a:t>Maps, dashboard and remaining support work</a:t>
            </a:r>
            <a:endParaRPr lang="en-US" sz="1100" dirty="0"/>
          </a:p>
        </p:txBody>
      </p:sp>
      <p:sp>
        <p:nvSpPr>
          <p:cNvPr id="33" name="Shape 31"/>
          <p:cNvSpPr/>
          <p:nvPr/>
        </p:nvSpPr>
        <p:spPr>
          <a:xfrm>
            <a:off x="6071616" y="2926080"/>
            <a:ext cx="2651760" cy="1417320"/>
          </a:xfrm>
          <a:prstGeom prst="rect">
            <a:avLst/>
          </a:prstGeom>
          <a:solidFill>
            <a:srgbClr val="FFFFFF"/>
          </a:solidFill>
          <a:ln w="9525">
            <a:solidFill>
              <a:srgbClr val="D9DEE7"/>
            </a:solidFill>
            <a:prstDash val="solid"/>
          </a:ln>
        </p:spPr>
      </p:sp>
      <p:sp>
        <p:nvSpPr>
          <p:cNvPr id="34" name="Shape 32"/>
          <p:cNvSpPr/>
          <p:nvPr/>
        </p:nvSpPr>
        <p:spPr>
          <a:xfrm>
            <a:off x="6208776" y="3063240"/>
            <a:ext cx="502920" cy="502920"/>
          </a:xfrm>
          <a:prstGeom prst="ellipse">
            <a:avLst/>
          </a:prstGeom>
          <a:solidFill>
            <a:srgbClr val="56627A"/>
          </a:solidFill>
          <a:ln w="12700">
            <a:solidFill>
              <a:srgbClr val="FFFFFF"/>
            </a:solidFill>
            <a:prstDash val="solid"/>
          </a:ln>
        </p:spPr>
      </p:sp>
      <p:sp>
        <p:nvSpPr>
          <p:cNvPr id="35" name="Text 33"/>
          <p:cNvSpPr txBox="1"/>
          <p:nvPr/>
        </p:nvSpPr>
        <p:spPr>
          <a:xfrm>
            <a:off x="6208776" y="30632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36" name="Text 34"/>
          <p:cNvSpPr txBox="1"/>
          <p:nvPr/>
        </p:nvSpPr>
        <p:spPr>
          <a:xfrm>
            <a:off x="6803136" y="3108960"/>
            <a:ext cx="1828800" cy="411480"/>
          </a:xfrm>
          <a:prstGeom prst="rect">
            <a:avLst/>
          </a:prstGeom>
          <a:noFill/>
          <a:ln/>
        </p:spPr>
        <p:txBody>
          <a:bodyPr wrap="square" lIns="0" tIns="0" rIns="0" bIns="0" rtlCol="0" anchor="ctr"/>
          <a:lstStyle/>
          <a:p>
            <a:pPr indent="0" marL="0">
              <a:buNone/>
            </a:pPr>
            <a:r>
              <a:rPr lang="en-US" sz="1350" b="1" dirty="0">
                <a:solidFill>
                  <a:srgbClr val="153E7C"/>
                </a:solidFill>
                <a:latin typeface="Calibri" pitchFamily="34" charset="0"/>
                <a:ea typeface="Calibri" pitchFamily="34" charset="-122"/>
                <a:cs typeface="Calibri" pitchFamily="34" charset="-120"/>
              </a:rPr>
              <a:t>[Member 6 name]</a:t>
            </a:r>
            <a:endParaRPr lang="en-US" sz="1350" dirty="0"/>
          </a:p>
        </p:txBody>
      </p:sp>
      <p:sp>
        <p:nvSpPr>
          <p:cNvPr id="37" name="Text 35"/>
          <p:cNvSpPr txBox="1"/>
          <p:nvPr/>
        </p:nvSpPr>
        <p:spPr>
          <a:xfrm>
            <a:off x="6208776" y="3657600"/>
            <a:ext cx="2377440" cy="640080"/>
          </a:xfrm>
          <a:prstGeom prst="rect">
            <a:avLst/>
          </a:prstGeom>
          <a:noFill/>
          <a:ln/>
        </p:spPr>
        <p:txBody>
          <a:bodyPr wrap="square" lIns="0" tIns="0" rIns="0" bIns="0" rtlCol="0" anchor="t"/>
          <a:lstStyle/>
          <a:p>
            <a:pPr indent="0" marL="0">
              <a:buNone/>
            </a:pPr>
            <a:r>
              <a:rPr lang="en-US" sz="1100" dirty="0">
                <a:solidFill>
                  <a:srgbClr val="172033"/>
                </a:solidFill>
                <a:latin typeface="Calibri" pitchFamily="34" charset="0"/>
                <a:ea typeface="Calibri" pitchFamily="34" charset="-122"/>
                <a:cs typeface="Calibri" pitchFamily="34" charset="-120"/>
              </a:rPr>
              <a:t>[Role: e.g. demo operator, testing, documentation]</a:t>
            </a:r>
            <a:endParaRPr lang="en-US" sz="1100" dirty="0"/>
          </a:p>
        </p:txBody>
      </p:sp>
      <p:sp>
        <p:nvSpPr>
          <p:cNvPr id="38" name="Text 36"/>
          <p:cNvSpPr txBox="1"/>
          <p:nvPr/>
        </p:nvSpPr>
        <p:spPr>
          <a:xfrm>
            <a:off x="457200" y="4572000"/>
            <a:ext cx="8229600" cy="228600"/>
          </a:xfrm>
          <a:prstGeom prst="rect">
            <a:avLst/>
          </a:prstGeom>
          <a:noFill/>
          <a:ln/>
        </p:spPr>
        <p:txBody>
          <a:bodyPr wrap="square" lIns="0" tIns="0" rIns="0" bIns="0" rtlCol="0" anchor="ctr"/>
          <a:lstStyle/>
          <a:p>
            <a:pPr indent="0" marL="0">
              <a:buNone/>
            </a:pPr>
            <a:r>
              <a:rPr lang="en-US" sz="1050" dirty="0">
                <a:solidFill>
                  <a:srgbClr val="56627A"/>
                </a:solidFill>
                <a:latin typeface="Calibri" pitchFamily="34" charset="0"/>
                <a:ea typeface="Calibri" pitchFamily="34" charset="-122"/>
                <a:cs typeface="Calibri" pitchFamily="34" charset="-120"/>
              </a:rPr>
              <a:t>B.Tech CSE final year, SD College of Engineering and Technology, Muzaffarnagar</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53E7C"/>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E07010"/>
          </a:solidFill>
          <a:ln w="12700">
            <a:solidFill>
              <a:srgbClr val="E07010"/>
            </a:solidFill>
            <a:prstDash val="solid"/>
          </a:ln>
        </p:spPr>
      </p:sp>
      <p:sp>
        <p:nvSpPr>
          <p:cNvPr id="3" name="Text 1"/>
          <p:cNvSpPr txBox="1"/>
          <p:nvPr/>
        </p:nvSpPr>
        <p:spPr>
          <a:xfrm>
            <a:off x="548640" y="1097280"/>
            <a:ext cx="8046720" cy="118872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We make the department's queue clear, and its work provable.</a:t>
            </a:r>
            <a:endParaRPr lang="en-US" sz="3200" dirty="0"/>
          </a:p>
        </p:txBody>
      </p:sp>
      <p:sp>
        <p:nvSpPr>
          <p:cNvPr id="4" name="Text 2"/>
          <p:cNvSpPr txBox="1"/>
          <p:nvPr/>
        </p:nvSpPr>
        <p:spPr>
          <a:xfrm>
            <a:off x="548640" y="2560320"/>
            <a:ext cx="8046720" cy="457200"/>
          </a:xfrm>
          <a:prstGeom prst="rect">
            <a:avLst/>
          </a:prstGeom>
          <a:noFill/>
          <a:ln/>
        </p:spPr>
        <p:txBody>
          <a:bodyPr wrap="square" lIns="0" tIns="0" rIns="0" bIns="0" rtlCol="0" anchor="ctr"/>
          <a:lstStyle/>
          <a:p>
            <a:pPr indent="0" marL="0">
              <a:buNone/>
            </a:pPr>
            <a:r>
              <a:rPr lang="en-US" sz="1800" dirty="0">
                <a:solidFill>
                  <a:srgbClr val="F5B27A"/>
                </a:solidFill>
                <a:latin typeface="Calibri" pitchFamily="34" charset="0"/>
                <a:ea typeface="Calibri" pitchFamily="34" charset="-122"/>
                <a:cs typeface="Calibri" pitchFamily="34" charset="-120"/>
              </a:rPr>
              <a:t>Ask: a pilot with one department in Roorkee or Muzaffarnagar.</a:t>
            </a:r>
            <a:endParaRPr lang="en-US" sz="1800" dirty="0"/>
          </a:p>
        </p:txBody>
      </p:sp>
      <p:sp>
        <p:nvSpPr>
          <p:cNvPr id="5" name="Text 3"/>
          <p:cNvSpPr txBox="1"/>
          <p:nvPr/>
        </p:nvSpPr>
        <p:spPr>
          <a:xfrm>
            <a:off x="548640" y="3291840"/>
            <a:ext cx="8046720" cy="822960"/>
          </a:xfrm>
          <a:prstGeom prst="rect">
            <a:avLst/>
          </a:prstGeom>
          <a:noFill/>
          <a:ln/>
        </p:spPr>
        <p:txBody>
          <a:bodyPr wrap="square" lIns="0" tIns="0" rIns="0" bIns="0" rtlCol="0" anchor="ctr"/>
          <a:lstStyle/>
          <a:p>
            <a:pPr indent="0" marL="0">
              <a:buNone/>
            </a:pPr>
            <a:r>
              <a:rPr lang="en-US" sz="1600" dirty="0">
                <a:solidFill>
                  <a:srgbClr val="DCE6F5"/>
                </a:solidFill>
                <a:latin typeface="Calibri" pitchFamily="34" charset="0"/>
                <a:ea typeface="Calibri" pitchFamily="34" charset="-122"/>
                <a:cs typeface="Calibri" pitchFamily="34" charset="-120"/>
              </a:rPr>
              <a:t>Live demo and recorded 45-second video available now.</a:t>
            </a:r>
            <a:endParaRPr lang="en-US" sz="1600" dirty="0"/>
          </a:p>
          <a:p>
            <a:pPr indent="0" marL="0">
              <a:buNone/>
            </a:pPr>
            <a:r>
              <a:rPr lang="en-US" sz="1600" dirty="0">
                <a:solidFill>
                  <a:srgbClr val="DCE6F5"/>
                </a:solidFill>
                <a:latin typeface="Calibri" pitchFamily="34" charset="0"/>
                <a:ea typeface="Calibri" pitchFamily="34" charset="-122"/>
                <a:cs typeface="Calibri" pitchFamily="34" charset="-120"/>
              </a:rPr>
              <a:t>Thank you. Questions?</a:t>
            </a:r>
            <a:endParaRPr lang="en-US" sz="1600" dirty="0"/>
          </a:p>
        </p:txBody>
      </p:sp>
      <p:sp>
        <p:nvSpPr>
          <p:cNvPr id="6" name="Text 4"/>
          <p:cNvSpPr txBox="1"/>
          <p:nvPr/>
        </p:nvSpPr>
        <p:spPr>
          <a:xfrm>
            <a:off x="548640" y="4526280"/>
            <a:ext cx="7315200" cy="274320"/>
          </a:xfrm>
          <a:prstGeom prst="rect">
            <a:avLst/>
          </a:prstGeom>
          <a:noFill/>
          <a:ln/>
        </p:spPr>
        <p:txBody>
          <a:bodyPr wrap="square" lIns="0" tIns="0" rIns="0" bIns="0" rtlCol="0" anchor="ctr"/>
          <a:lstStyle/>
          <a:p>
            <a:pPr indent="0" marL="0">
              <a:buNone/>
            </a:pPr>
            <a:r>
              <a:rPr lang="en-US" sz="1100" dirty="0">
                <a:solidFill>
                  <a:srgbClr val="B9C8E2"/>
                </a:solidFill>
                <a:latin typeface="Calibri" pitchFamily="34" charset="0"/>
                <a:ea typeface="Calibri" pitchFamily="34" charset="-122"/>
                <a:cs typeface="Calibri" pitchFamily="34" charset="-120"/>
              </a:rPr>
              <a:t>Chaukas AI  |  Shikayat se Samaadhan tak  |  Team Shivay</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Chaukas AI - Shikayat se Samaadhan tak</dc:title>
  <dc:subject>PptxGenJS Presentation</dc:subject>
  <dc:creator>Team Shivay</dc:creator>
  <cp:lastModifiedBy>Team Shivay</cp:lastModifiedBy>
  <cp:revision>1</cp:revision>
  <dcterms:created xsi:type="dcterms:W3CDTF">2026-10-09T15:48:46Z</dcterms:created>
  <dcterms:modified xsi:type="dcterms:W3CDTF">2026-10-09T15:48:46Z</dcterms:modified>
</cp:coreProperties>
</file>